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C0900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if every deal you touched</a:t>
            </a:r>
            <a:endParaRPr lang="en-US" sz="3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had a team of 12 expert analysts</a:t>
            </a:r>
            <a:endParaRPr lang="en-US" sz="3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on it. Simultaneously.</a:t>
            </a:r>
            <a:endParaRPr lang="en-US" sz="3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hours a day.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they never missed a comp. Never made a math error.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gave you a verified, audit-ready answer in under 30 minutes.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778240" y="914400"/>
            <a:ext cx="3017520" cy="4754880"/>
          </a:xfrm>
          <a:prstGeom prst="roundRect">
            <a:avLst>
              <a:gd name="adj" fmla="val 4545"/>
            </a:avLst>
          </a:prstGeom>
          <a:solidFill>
            <a:srgbClr val="112240"/>
          </a:solidFill>
          <a:ln/>
          <a:effectLst>
            <a:outerShdw sx="100000" sy="100000" kx="0" ky="0" algn="bl" rotWithShape="0" blurRad="152400" dist="50800" dir="810000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778240" y="914400"/>
            <a:ext cx="3017520" cy="73152"/>
          </a:xfrm>
          <a:prstGeom prst="rect">
            <a:avLst/>
          </a:prstGeom>
          <a:solidFill>
            <a:srgbClr val="C09000"/>
          </a:solidFill>
          <a:ln/>
        </p:spPr>
      </p:sp>
      <p:sp>
        <p:nvSpPr>
          <p:cNvPr id="8" name="Text 6"/>
          <p:cNvSpPr/>
          <p:nvPr/>
        </p:nvSpPr>
        <p:spPr>
          <a:xfrm>
            <a:off x="8869680" y="118872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3–5 days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869680" y="15087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 underwriting time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869680" y="192024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9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30 min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869680" y="22402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 underwriting time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869680" y="265176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$15K/seat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869680" y="29718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Argus Enterprise cost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869680" y="338328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9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$499/mo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869680" y="37033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 Deal Team tier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869680" y="411480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analyst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869680" y="44348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 model capacity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869680" y="484632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9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∞ deals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869680" y="51663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 capacity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" y="6263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09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 CRE INTELLIGENCE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6537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nexuscre.ai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 familiar?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Tuesday afternoon. A deal just hit your inbox. Here's what the next 72 hours look like.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188720"/>
            <a:ext cx="11704320" cy="36576"/>
          </a:xfrm>
          <a:prstGeom prst="rect">
            <a:avLst/>
          </a:prstGeom>
          <a:solidFill>
            <a:srgbClr val="7B0000"/>
          </a:solidFill>
          <a:ln w="12700">
            <a:solidFill>
              <a:srgbClr val="7B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417320"/>
            <a:ext cx="5669280" cy="1417320"/>
          </a:xfrm>
          <a:prstGeom prst="roundRect">
            <a:avLst>
              <a:gd name="adj" fmla="val 6452"/>
            </a:avLst>
          </a:prstGeom>
          <a:solidFill>
            <a:srgbClr val="FFEBE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417320"/>
            <a:ext cx="5669280" cy="45720"/>
          </a:xfrm>
          <a:prstGeom prst="rect">
            <a:avLst/>
          </a:prstGeom>
          <a:solidFill>
            <a:srgbClr val="7B0000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49047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📧  MONDAY 9AM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801368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7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 hits inbox. Looks interesting.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7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put it in the queue.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3063240"/>
            <a:ext cx="5669280" cy="1417320"/>
          </a:xfrm>
          <a:prstGeom prst="roundRect">
            <a:avLst>
              <a:gd name="adj" fmla="val 6452"/>
            </a:avLst>
          </a:prstGeom>
          <a:solidFill>
            <a:srgbClr val="FFEBEE"/>
          </a:solidFill>
          <a:ln/>
          <a:effectLst>
            <a:outerShdw sx="100000" sy="100000" kx="0" ky="0" algn="bl" rotWithShape="0" blurRad="1290320000" dist="483870000" dir="486000000000">
              <a:srgbClr val="000000">
                <a:alpha val="120000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3063240"/>
            <a:ext cx="5669280" cy="45720"/>
          </a:xfrm>
          <a:prstGeom prst="rect">
            <a:avLst/>
          </a:prstGeom>
          <a:solidFill>
            <a:srgbClr val="7B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313639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MONDAY 2PM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3447288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7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building the model. Pull T-12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7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manually. Start typing. Find typos.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4709160"/>
            <a:ext cx="5669280" cy="1417320"/>
          </a:xfrm>
          <a:prstGeom prst="roundRect">
            <a:avLst>
              <a:gd name="adj" fmla="val 6452"/>
            </a:avLst>
          </a:prstGeom>
          <a:solidFill>
            <a:srgbClr val="FFEBEE"/>
          </a:solidFill>
          <a:ln/>
          <a:effectLst>
            <a:outerShdw sx="100000" sy="100000" kx="0" ky="0" algn="bl" rotWithShape="0" blurRad="16387064000000" dist="6145149000000" dir="29160000000000000">
              <a:srgbClr val="000000">
                <a:alpha val="12000000000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4709160"/>
            <a:ext cx="5669280" cy="45720"/>
          </a:xfrm>
          <a:prstGeom prst="rect">
            <a:avLst/>
          </a:prstGeom>
          <a:solidFill>
            <a:srgbClr val="7B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478231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 TUESDAY 10AM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" y="5093208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7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3 hours hunting comps on CoStar.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7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two brokers. Get conflicting numbers.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09360" y="1417320"/>
            <a:ext cx="5669280" cy="1417320"/>
          </a:xfrm>
          <a:prstGeom prst="roundRect">
            <a:avLst>
              <a:gd name="adj" fmla="val 6452"/>
            </a:avLst>
          </a:prstGeom>
          <a:solidFill>
            <a:srgbClr val="FFEBEE"/>
          </a:solidFill>
          <a:ln/>
          <a:effectLst>
            <a:outerShdw sx="100000" sy="100000" kx="0" ky="0" algn="bl" rotWithShape="0" blurRad="208115712800000000" dist="78043392300000000" dir="1.7496e+21">
              <a:srgbClr val="000000">
                <a:alpha val="1200000000000000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09360" y="1417320"/>
            <a:ext cx="5669280" cy="45720"/>
          </a:xfrm>
          <a:prstGeom prst="rect">
            <a:avLst/>
          </a:prstGeom>
          <a:solidFill>
            <a:srgbClr val="7B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149047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 TUESDAY 4PM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46520" y="1801368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7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Associate finds an error in the rent roll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7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inputs. Model rebuilt from scratch.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309360" y="3063240"/>
            <a:ext cx="5669280" cy="1417320"/>
          </a:xfrm>
          <a:prstGeom prst="roundRect">
            <a:avLst>
              <a:gd name="adj" fmla="val 6452"/>
            </a:avLst>
          </a:prstGeom>
          <a:solidFill>
            <a:srgbClr val="FFEBEE"/>
          </a:solidFill>
          <a:ln/>
          <a:effectLst>
            <a:outerShdw sx="100000" sy="100000" kx="0" ky="0" algn="bl" rotWithShape="0" blurRad="2.64306955256e+21" dist="991151082210000000000" dir="1.04976e+26">
              <a:srgbClr val="000000">
                <a:alpha val="1.2e+24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309360" y="3063240"/>
            <a:ext cx="5669280" cy="45720"/>
          </a:xfrm>
          <a:prstGeom prst="rect">
            <a:avLst/>
          </a:prstGeom>
          <a:solidFill>
            <a:srgbClr val="7B0000"/>
          </a:solidFill>
          <a:ln/>
        </p:spPr>
      </p:sp>
      <p:sp>
        <p:nvSpPr>
          <p:cNvPr id="24" name="Text 22"/>
          <p:cNvSpPr/>
          <p:nvPr/>
        </p:nvSpPr>
        <p:spPr>
          <a:xfrm>
            <a:off x="6446520" y="313639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📞  WEDNESDAY 9AM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46520" y="3447288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7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partner asks for sensitivity tables.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7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cancel lunch. Work through dinner.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09360" y="4709160"/>
            <a:ext cx="5669280" cy="1417320"/>
          </a:xfrm>
          <a:prstGeom prst="roundRect">
            <a:avLst>
              <a:gd name="adj" fmla="val 6452"/>
            </a:avLst>
          </a:prstGeom>
          <a:solidFill>
            <a:srgbClr val="FFEBEE"/>
          </a:solidFill>
          <a:ln/>
          <a:effectLst>
            <a:outerShdw sx="100000" sy="100000" kx="0" ky="0" algn="bl" rotWithShape="0" blurRad="3.3566983317512e+25" dist="1.2587618744067e+25" dir="6.29856e+30">
              <a:srgbClr val="000000">
                <a:alpha val="1.2e+29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309360" y="4709160"/>
            <a:ext cx="5669280" cy="45720"/>
          </a:xfrm>
          <a:prstGeom prst="rect">
            <a:avLst/>
          </a:prstGeom>
          <a:solidFill>
            <a:srgbClr val="7B0000"/>
          </a:solidFill>
          <a:ln/>
        </p:spPr>
      </p:sp>
      <p:sp>
        <p:nvSpPr>
          <p:cNvPr id="28" name="Text 26"/>
          <p:cNvSpPr/>
          <p:nvPr/>
        </p:nvSpPr>
        <p:spPr>
          <a:xfrm>
            <a:off x="6446520" y="478231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WEDNESDAY 6PM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46520" y="5093208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7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 memo sent. Deal closes in 48 hours.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7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missed it. Competitor was faster.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943600" y="2194560"/>
            <a:ext cx="320040" cy="54864"/>
          </a:xfrm>
          <a:prstGeom prst="rect">
            <a:avLst/>
          </a:prstGeom>
          <a:solidFill>
            <a:srgbClr val="7B0000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274320" y="6400800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 of CRE investors started AI programs in 2025. Only 5% achieved their goals.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5A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rest are still doing it the old way.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C09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45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deal. NEXUS.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694944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upload one file. Your AI deal team does the rest.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188720" y="3749040"/>
            <a:ext cx="9692640" cy="54864"/>
          </a:xfrm>
          <a:prstGeom prst="rect">
            <a:avLst/>
          </a:prstGeom>
          <a:solidFill>
            <a:srgbClr val="334466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188720"/>
            <a:ext cx="1920240" cy="2560320"/>
          </a:xfrm>
          <a:prstGeom prst="roundRect">
            <a:avLst>
              <a:gd name="adj" fmla="val 5714"/>
            </a:avLst>
          </a:prstGeom>
          <a:solidFill>
            <a:srgbClr val="0D2240"/>
          </a:solidFill>
          <a:ln/>
          <a:effectLst>
            <a:outerShdw sx="100000" sy="100000" kx="0" ky="0" algn="bl" rotWithShape="0" blurRad="1935480000" dist="645160000" dir="486000000000">
              <a:srgbClr val="000000">
                <a:alpha val="140000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188720"/>
            <a:ext cx="1920240" cy="640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2801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📤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280160" y="1883664"/>
            <a:ext cx="822960" cy="347472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1883664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0:00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04672" y="2359152"/>
            <a:ext cx="1783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upload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OM + rent roll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325880" y="3611880"/>
            <a:ext cx="731520" cy="292608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4" name="Text 12"/>
          <p:cNvSpPr/>
          <p:nvPr/>
        </p:nvSpPr>
        <p:spPr>
          <a:xfrm>
            <a:off x="2633472" y="2194560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017520" y="1188720"/>
            <a:ext cx="1920240" cy="2560320"/>
          </a:xfrm>
          <a:prstGeom prst="roundRect">
            <a:avLst>
              <a:gd name="adj" fmla="val 5714"/>
            </a:avLst>
          </a:prstGeom>
          <a:solidFill>
            <a:srgbClr val="0D2240"/>
          </a:solidFill>
          <a:ln/>
          <a:effectLst>
            <a:outerShdw sx="100000" sy="100000" kx="0" ky="0" algn="bl" rotWithShape="0" blurRad="24580596000000" dist="8193532000000" dir="29160000000000000">
              <a:srgbClr val="000000">
                <a:alpha val="14000000000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017520" y="1188720"/>
            <a:ext cx="1920240" cy="640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7" name="Text 15"/>
          <p:cNvSpPr/>
          <p:nvPr/>
        </p:nvSpPr>
        <p:spPr>
          <a:xfrm>
            <a:off x="3017520" y="12801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3566160" y="1883664"/>
            <a:ext cx="822960" cy="347472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9" name="Text 17"/>
          <p:cNvSpPr/>
          <p:nvPr/>
        </p:nvSpPr>
        <p:spPr>
          <a:xfrm>
            <a:off x="3566160" y="1883664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0:04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090672" y="2359152"/>
            <a:ext cx="1783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AI agents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all data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11880" y="3611880"/>
            <a:ext cx="731520" cy="292608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22" name="Text 20"/>
          <p:cNvSpPr/>
          <p:nvPr/>
        </p:nvSpPr>
        <p:spPr>
          <a:xfrm>
            <a:off x="4919472" y="2194560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5303520" y="1188720"/>
            <a:ext cx="1920240" cy="2560320"/>
          </a:xfrm>
          <a:prstGeom prst="roundRect">
            <a:avLst>
              <a:gd name="adj" fmla="val 5714"/>
            </a:avLst>
          </a:prstGeom>
          <a:solidFill>
            <a:srgbClr val="0D2240"/>
          </a:solidFill>
          <a:ln/>
          <a:effectLst>
            <a:outerShdw sx="100000" sy="100000" kx="0" ky="0" algn="bl" rotWithShape="0" blurRad="312173569200000000" dist="104057856400000000" dir="1.7496e+21">
              <a:srgbClr val="000000">
                <a:alpha val="1400000000000000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303520" y="1188720"/>
            <a:ext cx="1920240" cy="64008"/>
          </a:xfrm>
          <a:prstGeom prst="rect">
            <a:avLst/>
          </a:prstGeom>
          <a:solidFill>
            <a:srgbClr val="006064"/>
          </a:solidFill>
          <a:ln/>
        </p:spPr>
      </p:sp>
      <p:sp>
        <p:nvSpPr>
          <p:cNvPr id="25" name="Text 23"/>
          <p:cNvSpPr/>
          <p:nvPr/>
        </p:nvSpPr>
        <p:spPr>
          <a:xfrm>
            <a:off x="5303520" y="12801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5852160" y="1883664"/>
            <a:ext cx="822960" cy="347472"/>
          </a:xfrm>
          <a:prstGeom prst="ellipse">
            <a:avLst/>
          </a:prstGeom>
          <a:solidFill>
            <a:srgbClr val="006064"/>
          </a:solidFill>
          <a:ln/>
        </p:spPr>
      </p:sp>
      <p:sp>
        <p:nvSpPr>
          <p:cNvPr id="27" name="Text 25"/>
          <p:cNvSpPr/>
          <p:nvPr/>
        </p:nvSpPr>
        <p:spPr>
          <a:xfrm>
            <a:off x="5852160" y="1883664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0:09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76672" y="2359152"/>
            <a:ext cx="1783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comps pulled.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built auto.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897880" y="3611880"/>
            <a:ext cx="731520" cy="292608"/>
          </a:xfrm>
          <a:prstGeom prst="ellipse">
            <a:avLst/>
          </a:prstGeom>
          <a:solidFill>
            <a:srgbClr val="006064"/>
          </a:solidFill>
          <a:ln/>
        </p:spPr>
      </p:sp>
      <p:sp>
        <p:nvSpPr>
          <p:cNvPr id="30" name="Text 28"/>
          <p:cNvSpPr/>
          <p:nvPr/>
        </p:nvSpPr>
        <p:spPr>
          <a:xfrm>
            <a:off x="7205472" y="2194560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7589520" y="1188720"/>
            <a:ext cx="1920240" cy="2560320"/>
          </a:xfrm>
          <a:prstGeom prst="roundRect">
            <a:avLst>
              <a:gd name="adj" fmla="val 5714"/>
            </a:avLst>
          </a:prstGeom>
          <a:solidFill>
            <a:srgbClr val="0D2240"/>
          </a:solidFill>
          <a:ln/>
          <a:effectLst>
            <a:outerShdw sx="100000" sy="100000" kx="0" ky="0" algn="bl" rotWithShape="0" blurRad="3.96460432884e+21" dist="1.32153477628e+21" dir="1.04976e+26">
              <a:srgbClr val="000000">
                <a:alpha val="1.4e+24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589520" y="1188720"/>
            <a:ext cx="1920240" cy="64008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3" name="Text 31"/>
          <p:cNvSpPr/>
          <p:nvPr/>
        </p:nvSpPr>
        <p:spPr>
          <a:xfrm>
            <a:off x="7589520" y="12801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2400" dirty="0"/>
          </a:p>
        </p:txBody>
      </p:sp>
      <p:sp>
        <p:nvSpPr>
          <p:cNvPr id="34" name="Shape 32"/>
          <p:cNvSpPr/>
          <p:nvPr/>
        </p:nvSpPr>
        <p:spPr>
          <a:xfrm>
            <a:off x="8138160" y="1883664"/>
            <a:ext cx="822960" cy="347472"/>
          </a:xfrm>
          <a:prstGeom prst="ellipse">
            <a:avLst/>
          </a:prstGeom>
          <a:solidFill>
            <a:srgbClr val="1B5E20"/>
          </a:solidFill>
          <a:ln/>
        </p:spPr>
      </p:sp>
      <p:sp>
        <p:nvSpPr>
          <p:cNvPr id="35" name="Text 33"/>
          <p:cNvSpPr/>
          <p:nvPr/>
        </p:nvSpPr>
        <p:spPr>
          <a:xfrm>
            <a:off x="8138160" y="1883664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0:18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662672" y="2359152"/>
            <a:ext cx="1783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independent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IRR calculations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cross-validated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183880" y="3611880"/>
            <a:ext cx="731520" cy="292608"/>
          </a:xfrm>
          <a:prstGeom prst="ellipse">
            <a:avLst/>
          </a:prstGeom>
          <a:solidFill>
            <a:srgbClr val="1B5E20"/>
          </a:solidFill>
          <a:ln/>
        </p:spPr>
      </p:sp>
      <p:sp>
        <p:nvSpPr>
          <p:cNvPr id="38" name="Text 36"/>
          <p:cNvSpPr/>
          <p:nvPr/>
        </p:nvSpPr>
        <p:spPr>
          <a:xfrm>
            <a:off x="9491472" y="2194560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9875520" y="1188720"/>
            <a:ext cx="1920240" cy="2560320"/>
          </a:xfrm>
          <a:prstGeom prst="roundRect">
            <a:avLst>
              <a:gd name="adj" fmla="val 5714"/>
            </a:avLst>
          </a:prstGeom>
          <a:solidFill>
            <a:srgbClr val="0D2240"/>
          </a:solidFill>
          <a:ln/>
          <a:effectLst>
            <a:outerShdw sx="100000" sy="100000" kx="0" ky="0" algn="bl" rotWithShape="0" blurRad="5.0350474976268e+25" dist="1.6783491658756e+25" dir="6.29856e+30">
              <a:srgbClr val="000000">
                <a:alpha val="1.4000000000000002e+29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875520" y="1188720"/>
            <a:ext cx="1920240" cy="64008"/>
          </a:xfrm>
          <a:prstGeom prst="rect">
            <a:avLst/>
          </a:prstGeom>
          <a:solidFill>
            <a:srgbClr val="C09000"/>
          </a:solidFill>
          <a:ln/>
        </p:spPr>
      </p:sp>
      <p:sp>
        <p:nvSpPr>
          <p:cNvPr id="41" name="Text 39"/>
          <p:cNvSpPr/>
          <p:nvPr/>
        </p:nvSpPr>
        <p:spPr>
          <a:xfrm>
            <a:off x="9875520" y="12801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</a:t>
            </a:r>
            <a:endParaRPr lang="en-US" sz="2400" dirty="0"/>
          </a:p>
        </p:txBody>
      </p:sp>
      <p:sp>
        <p:nvSpPr>
          <p:cNvPr id="42" name="Shape 40"/>
          <p:cNvSpPr/>
          <p:nvPr/>
        </p:nvSpPr>
        <p:spPr>
          <a:xfrm>
            <a:off x="10424160" y="1883664"/>
            <a:ext cx="822960" cy="347472"/>
          </a:xfrm>
          <a:prstGeom prst="ellipse">
            <a:avLst/>
          </a:prstGeom>
          <a:solidFill>
            <a:srgbClr val="C09000"/>
          </a:solidFill>
          <a:ln/>
        </p:spPr>
      </p:sp>
      <p:sp>
        <p:nvSpPr>
          <p:cNvPr id="43" name="Text 41"/>
          <p:cNvSpPr/>
          <p:nvPr/>
        </p:nvSpPr>
        <p:spPr>
          <a:xfrm>
            <a:off x="10424160" y="1883664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0:27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948672" y="2359152"/>
            <a:ext cx="1783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 memo +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ready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0469880" y="3611880"/>
            <a:ext cx="731520" cy="292608"/>
          </a:xfrm>
          <a:prstGeom prst="ellipse">
            <a:avLst/>
          </a:prstGeom>
          <a:solidFill>
            <a:srgbClr val="C09000"/>
          </a:solidFill>
          <a:ln/>
        </p:spPr>
      </p:sp>
      <p:sp>
        <p:nvSpPr>
          <p:cNvPr id="46" name="Shape 44"/>
          <p:cNvSpPr/>
          <p:nvPr/>
        </p:nvSpPr>
        <p:spPr>
          <a:xfrm>
            <a:off x="914400" y="4114800"/>
            <a:ext cx="10241280" cy="2240280"/>
          </a:xfrm>
          <a:prstGeom prst="roundRect">
            <a:avLst>
              <a:gd name="adj" fmla="val 6122"/>
            </a:avLst>
          </a:prstGeom>
          <a:solidFill>
            <a:srgbClr val="0A1929"/>
          </a:solidFill>
          <a:ln/>
          <a:effectLst>
            <a:outerShdw sx="100000" sy="100000" kx="0" ky="0" algn="bl" rotWithShape="0" blurRad="6.394510321986036e+29" dist="2.1315034406620118e+29" dir="3.779136e+35">
              <a:srgbClr val="000000">
                <a:alpha val="1.4000000000000003e+34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914400" y="4114800"/>
            <a:ext cx="10241280" cy="64008"/>
          </a:xfrm>
          <a:prstGeom prst="rect">
            <a:avLst/>
          </a:prstGeom>
          <a:solidFill>
            <a:srgbClr val="C09000"/>
          </a:solidFill>
          <a:ln/>
        </p:spPr>
      </p:sp>
      <p:sp>
        <p:nvSpPr>
          <p:cNvPr id="48" name="Text 46"/>
          <p:cNvSpPr/>
          <p:nvPr/>
        </p:nvSpPr>
        <p:spPr>
          <a:xfrm>
            <a:off x="1280160" y="4297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9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27 minutes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1280160" y="47365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to IC-ready model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291840" y="4297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9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0️⃣ math errors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3291840" y="47365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Dual-verified outputs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303520" y="4297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9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Market comps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5303520" y="47365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Auto-sourced &amp; cited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7315200" y="4297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9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Audit trail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7315200" y="47365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assumption justified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9326880" y="4297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9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IC memo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9326880" y="47365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Written. Done. Sent.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1097280" y="5138928"/>
            <a:ext cx="9875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your competitor is still on the phone hunting comps, you've already sent the memo.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1097280" y="5468112"/>
            <a:ext cx="9875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9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not a productivity gain. That's a structural advantage.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not buying software.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hiring a team.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25296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A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NEXUS account comes with 12 specialized AI agents — each trained on a single discipline.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A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work in parallel. They fact-check each other. They never sleep.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1874520"/>
            <a:ext cx="11704320" cy="3657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2011680"/>
            <a:ext cx="27432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4.2630068813240236e+29" dist="1.598627580496509e+29" dir="3.779136e+35">
              <a:srgbClr val="000000">
                <a:alpha val="1.2e+34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2011680"/>
            <a:ext cx="201168" cy="1371600"/>
          </a:xfrm>
          <a:prstGeom prst="rect">
            <a:avLst/>
          </a:prstGeom>
          <a:solidFill>
            <a:srgbClr val="0D2D52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08483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INTAKE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35915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Analyst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260604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7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your rent roll, OM &amp; T-12 in 90 seconds. No typing.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46120" y="2011680"/>
            <a:ext cx="27432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.41401873928151e+33" dist="2.0302570272305663e+33" dir="2.2674816e+40">
              <a:srgbClr val="000000">
                <a:alpha val="1.1999999999999999e+39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2011680"/>
            <a:ext cx="201168" cy="13716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4" name="Text 12"/>
          <p:cNvSpPr/>
          <p:nvPr/>
        </p:nvSpPr>
        <p:spPr>
          <a:xfrm>
            <a:off x="3520440" y="208483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20440" y="235915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Associate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520440" y="260604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7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Pulls live cap rates, rent comps &amp; vacancy data from 5 sources simultaneously.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72200" y="2011680"/>
            <a:ext cx="27432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.875803798887518e+37" dist="2.578426424582819e+37" dir="1.36048896e+45">
              <a:srgbClr val="000000">
                <a:alpha val="1.1999999999999999e+44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72200" y="2011680"/>
            <a:ext cx="201168" cy="1371600"/>
          </a:xfrm>
          <a:prstGeom prst="rect">
            <a:avLst/>
          </a:prstGeom>
          <a:solidFill>
            <a:srgbClr val="006064"/>
          </a:solidFill>
          <a:ln/>
        </p:spPr>
      </p:sp>
      <p:sp>
        <p:nvSpPr>
          <p:cNvPr id="19" name="Text 17"/>
          <p:cNvSpPr/>
          <p:nvPr/>
        </p:nvSpPr>
        <p:spPr>
          <a:xfrm>
            <a:off x="6446520" y="208483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0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46520" y="235915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Monitor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46520" y="260604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7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Watches actual vs. underwritten performance. Flags variance before it's a problem.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098280" y="2011680"/>
            <a:ext cx="27432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.732270824587148e+41" dist="3.2746015592201804e+41" dir="8.16293376e+49">
              <a:srgbClr val="000000">
                <a:alpha val="1.2e+49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098280" y="2011680"/>
            <a:ext cx="201168" cy="137160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4" name="Text 22"/>
          <p:cNvSpPr/>
          <p:nvPr/>
        </p:nvSpPr>
        <p:spPr>
          <a:xfrm>
            <a:off x="9372600" y="208483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SOPHIA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372600" y="235915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Underwriter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372600" y="260604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7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Cross-validates every assumption against comparable deals. Flags anything that looks off.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3566160"/>
            <a:ext cx="27432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.1089983947225678e+46" dist="4.158743980209629e+45" dir="4.897760256e+54">
              <a:srgbClr val="000000">
                <a:alpha val="1.2e+54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3566160"/>
            <a:ext cx="201168" cy="137160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9" name="Text 27"/>
          <p:cNvSpPr/>
          <p:nvPr/>
        </p:nvSpPr>
        <p:spPr>
          <a:xfrm>
            <a:off x="594360" y="363931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VERITAS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94360" y="391363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Chief Math Officer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94360" y="416052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7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the IRR twice, two different ways. If they don't match to 8 decimal places, it stops.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46120" y="3566160"/>
            <a:ext cx="27432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.408427961297661e+50" dist="5.281604854866228e+49" dir="2.9386561536e+59">
              <a:srgbClr val="000000">
                <a:alpha val="1.2e+59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46120" y="3566160"/>
            <a:ext cx="201168" cy="1371600"/>
          </a:xfrm>
          <a:prstGeom prst="rect">
            <a:avLst/>
          </a:prstGeom>
          <a:solidFill>
            <a:srgbClr val="006064"/>
          </a:solidFill>
          <a:ln/>
        </p:spPr>
      </p:sp>
      <p:sp>
        <p:nvSpPr>
          <p:cNvPr id="34" name="Text 32"/>
          <p:cNvSpPr/>
          <p:nvPr/>
        </p:nvSpPr>
        <p:spPr>
          <a:xfrm>
            <a:off x="3520440" y="363931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0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520440" y="391363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 Specialist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520440" y="416052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7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Finds the 10 most comparable transactions in the market. Shows its work. Every time.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172200" y="3566160"/>
            <a:ext cx="27432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.7887035108480297e+54" dist="6.70763816568011e+53" dir="1.76319369216e+64">
              <a:srgbClr val="000000">
                <a:alpha val="1.2000000000000001e+64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72200" y="3566160"/>
            <a:ext cx="201168" cy="1371600"/>
          </a:xfrm>
          <a:prstGeom prst="rect">
            <a:avLst/>
          </a:prstGeom>
          <a:solidFill>
            <a:srgbClr val="C09000"/>
          </a:solidFill>
          <a:ln/>
        </p:spPr>
      </p:sp>
      <p:sp>
        <p:nvSpPr>
          <p:cNvPr id="39" name="Text 37"/>
          <p:cNvSpPr/>
          <p:nvPr/>
        </p:nvSpPr>
        <p:spPr>
          <a:xfrm>
            <a:off x="6446520" y="363931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9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TORCH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446520" y="391363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 Memo Writer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446520" y="416052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7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Turns your model into a professional investment memo. In your format. In minutes.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9098280" y="3566160"/>
            <a:ext cx="27432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.2716534587769977e+58" dist="8.518700470413739e+57" dir="1.057916215296e+69">
              <a:srgbClr val="000000">
                <a:alpha val="1.2e+69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9098280" y="3566160"/>
            <a:ext cx="201168" cy="137160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44" name="Text 42"/>
          <p:cNvSpPr/>
          <p:nvPr/>
        </p:nvSpPr>
        <p:spPr>
          <a:xfrm>
            <a:off x="9372600" y="363931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9372600" y="391363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Debt Strategist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9372600" y="416052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7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5 different loan structures simultaneously. Shows you which one wins.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20040" y="5120640"/>
            <a:ext cx="27432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.8849998926467873e+62" dist="1.081874959742545e+62" dir="6.347497291776e+73">
              <a:srgbClr val="000000">
                <a:alpha val="1.2e+74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320040" y="5120640"/>
            <a:ext cx="201168" cy="1371600"/>
          </a:xfrm>
          <a:prstGeom prst="rect">
            <a:avLst/>
          </a:prstGeom>
          <a:solidFill>
            <a:srgbClr val="7B0000"/>
          </a:solidFill>
          <a:ln/>
        </p:spPr>
      </p:sp>
      <p:sp>
        <p:nvSpPr>
          <p:cNvPr id="49" name="Text 47"/>
          <p:cNvSpPr/>
          <p:nvPr/>
        </p:nvSpPr>
        <p:spPr>
          <a:xfrm>
            <a:off x="594360" y="519379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HERALD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94360" y="54681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Monitor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94360" y="571500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7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Watches your live portfolio. Sends alerts when DSCR gets tight or market shifts.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246120" y="5120640"/>
            <a:ext cx="27432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.66394986366142e+66" dist="1.373981198873032e+66" dir="3.8084983750656e+78">
              <a:srgbClr val="000000">
                <a:alpha val="1.2000000000000001e+79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3246120" y="5120640"/>
            <a:ext cx="201168" cy="1371600"/>
          </a:xfrm>
          <a:prstGeom prst="rect">
            <a:avLst/>
          </a:prstGeom>
          <a:solidFill>
            <a:srgbClr val="0D2D52"/>
          </a:solidFill>
          <a:ln/>
        </p:spPr>
      </p:sp>
      <p:sp>
        <p:nvSpPr>
          <p:cNvPr id="54" name="Text 52"/>
          <p:cNvSpPr/>
          <p:nvPr/>
        </p:nvSpPr>
        <p:spPr>
          <a:xfrm>
            <a:off x="3520440" y="519379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3520440" y="54681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 Room Manager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520440" y="571500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7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Manages the workflow. Assigns tasks. Makes sure nothing falls through the cracks.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172200" y="5120640"/>
            <a:ext cx="27432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4.653216326850003e+70" dist="1.7449561225687507e+70" dir="2.28509902503936e+83">
              <a:srgbClr val="000000">
                <a:alpha val="1.2000000000000002e+84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6172200" y="5120640"/>
            <a:ext cx="201168" cy="13716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59" name="Text 57"/>
          <p:cNvSpPr/>
          <p:nvPr/>
        </p:nvSpPr>
        <p:spPr>
          <a:xfrm>
            <a:off x="6446520" y="519379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SHOFET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6446520" y="54681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Control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446520" y="571500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7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veto agent. If any agent flags a problem, it escalates before the output leaves.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9098280" y="5120640"/>
            <a:ext cx="27432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.909584735099504e+74" dist="2.2160942756623134e+74" dir="1.371059415023616e+88">
              <a:srgbClr val="000000">
                <a:alpha val="1.2000000000000002e+89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9098280" y="5120640"/>
            <a:ext cx="201168" cy="1371600"/>
          </a:xfrm>
          <a:prstGeom prst="rect">
            <a:avLst/>
          </a:prstGeom>
          <a:solidFill>
            <a:srgbClr val="5A6475"/>
          </a:solidFill>
          <a:ln/>
        </p:spPr>
      </p:sp>
      <p:sp>
        <p:nvSpPr>
          <p:cNvPr id="64" name="Text 62"/>
          <p:cNvSpPr/>
          <p:nvPr/>
        </p:nvSpPr>
        <p:spPr>
          <a:xfrm>
            <a:off x="9372600" y="519379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W3C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9372600" y="54681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Officer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9372600" y="571500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7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 every output for regulatory accuracy. Keeps the audit trail complete.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320040" y="64922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12 work on your deal at the same time. They share findings. They vote on the answer. No single agent can send you wrong information.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DEAL.  REAL RESULT.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Acquisitions Director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115568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value-add industrial portfolio. 6 buildings. 42 tenants. 48-hour LOI deadline.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536192"/>
            <a:ext cx="11247120" cy="36576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691640"/>
            <a:ext cx="4937760" cy="4754880"/>
          </a:xfrm>
          <a:prstGeom prst="roundRect">
            <a:avLst>
              <a:gd name="adj" fmla="val 2308"/>
            </a:avLst>
          </a:prstGeom>
          <a:solidFill>
            <a:srgbClr val="0A1929"/>
          </a:solidFill>
          <a:ln/>
          <a:effectLst>
            <a:outerShdw sx="100000" sy="100000" kx="0" ky="0" algn="bl" rotWithShape="0" blurRad="8.121028108922265e+33" dist="2.707009369640755e+33" dir="2.2674816e+40">
              <a:srgbClr val="000000">
                <a:alpha val="1.4000000000000003e+39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691640"/>
            <a:ext cx="4937760" cy="64008"/>
          </a:xfrm>
          <a:prstGeom prst="rect">
            <a:avLst/>
          </a:prstGeom>
          <a:solidFill>
            <a:srgbClr val="7B000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80136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Before NEXUS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04672" y="2212848"/>
            <a:ext cx="4663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Day 1 (8 hrs): Manually enter 42-tenant rent roll into Argus. Find 6 data entry errors. Redo.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4672" y="2871216"/>
            <a:ext cx="4663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Day 2 (6 hrs): Hunt industrial comps. CoStar returns 200 results. Hand-filter to 12 usable ones.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04672" y="3529584"/>
            <a:ext cx="4663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Day 2 (4 hrs): Build waterfall for 3 capital stack scenarios. Cell reference breaks in scenario 2.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04672" y="4187952"/>
            <a:ext cx="4663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Day 3 (5 hrs): Recheck math. Associate finds NOI error. Model rebuilt.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4672" y="4846320"/>
            <a:ext cx="4663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Day 3 — 11pm: IC memo emailed. Team exhausted. LOI submitted with 1 hour to spare.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4672" y="5504688"/>
            <a:ext cx="4663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FF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Result: Offer accepted. But you left 40 other deals unanalyzed that same week.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92240" y="1691640"/>
            <a:ext cx="5394960" cy="4754880"/>
          </a:xfrm>
          <a:prstGeom prst="roundRect">
            <a:avLst>
              <a:gd name="adj" fmla="val 2308"/>
            </a:avLst>
          </a:prstGeom>
          <a:solidFill>
            <a:srgbClr val="071F12"/>
          </a:solidFill>
          <a:ln/>
          <a:effectLst>
            <a:outerShdw sx="100000" sy="100000" kx="0" ky="0" algn="bl" rotWithShape="0" blurRad="1.0313705698331276e+38" dist="3.437901899443759e+37" dir="1.36048896e+45">
              <a:srgbClr val="000000">
                <a:alpha val="1.4000000000000002e+44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92240" y="1691640"/>
            <a:ext cx="5394960" cy="64008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8" name="Text 16"/>
          <p:cNvSpPr/>
          <p:nvPr/>
        </p:nvSpPr>
        <p:spPr>
          <a:xfrm>
            <a:off x="6629400" y="180136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F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With NEXUS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56832" y="2212848"/>
            <a:ext cx="5120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AACC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Minute 0: Upload rent roll PDF and OM. NEXUS INTAKE reads all 42 tenants in 90 seconds.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656832" y="2871216"/>
            <a:ext cx="5120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AACC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Minute 9: MARKET agent pulls industrial comp transactions in the submarket. Cites 8 recent sales.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656832" y="3529584"/>
            <a:ext cx="5120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AACC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Minute 14: VERITAS builds DCF. Runs IRR two ways. Results match to 8 decimal places. Flags one tenant lease expiry risk.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656832" y="4187952"/>
            <a:ext cx="5120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AACC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Minute 19: STRUCTUR models 3 debt scenarios side-by-side. Shows optimal structure instantly.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656832" y="4846320"/>
            <a:ext cx="5120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AACC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Minute 27: TORCH writes the IC memo. Model + narrative + comps. All in your format.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656832" y="5504688"/>
            <a:ext cx="5120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66F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Result: LOI submitted Day 1. You analyzed 11 more deals that same week.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0" y="347472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C09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2D5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2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DEAL.  REAL RESULT.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2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CRE Lender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115568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$12M retail center refinance. Borrower needs a term sheet in 5 days. Three competing lenders.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36192"/>
            <a:ext cx="11247120" cy="36576"/>
          </a:xfrm>
          <a:prstGeom prst="rect">
            <a:avLst/>
          </a:prstGeom>
          <a:solidFill>
            <a:srgbClr val="0D2D52"/>
          </a:solidFill>
          <a:ln w="12700">
            <a:solidFill>
              <a:srgbClr val="0D2D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828800"/>
            <a:ext cx="2029968" cy="292608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.50517261357637e+78" dist="2.814439730091138e+78" dir="8.226356490141696e+92">
              <a:srgbClr val="000000">
                <a:alpha val="1.2000000000000001e+94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828800"/>
            <a:ext cx="2029968" cy="502920"/>
          </a:xfrm>
          <a:prstGeom prst="rect">
            <a:avLst/>
          </a:prstGeom>
          <a:solidFill>
            <a:srgbClr val="0D2D52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856232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02920" y="242316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 arrive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834640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A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 roll, T-12,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A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 abstract stack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22960" y="3657600"/>
            <a:ext cx="1188720" cy="384048"/>
          </a:xfrm>
          <a:prstGeom prst="ellipse">
            <a:avLst/>
          </a:prstGeom>
          <a:solidFill>
            <a:srgbClr val="0D2D52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6576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min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441448" y="3218688"/>
            <a:ext cx="274320" cy="5486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5" name="Text 13"/>
          <p:cNvSpPr/>
          <p:nvPr/>
        </p:nvSpPr>
        <p:spPr>
          <a:xfrm>
            <a:off x="2386584" y="2926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715768" y="1828800"/>
            <a:ext cx="2029968" cy="292608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.53156921924199e+82" dist="3.574338457215745e+82" dir="4.9358138940850176e+97">
              <a:srgbClr val="000000">
                <a:alpha val="1.2e+99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15768" y="1828800"/>
            <a:ext cx="2029968" cy="5029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2715768" y="1856232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807208" y="242316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 reads them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807208" y="2834640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A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INTAKE extracts all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A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147 data points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127248" y="3657600"/>
            <a:ext cx="1188720" cy="384048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22" name="Text 20"/>
          <p:cNvSpPr/>
          <p:nvPr/>
        </p:nvSpPr>
        <p:spPr>
          <a:xfrm>
            <a:off x="3127248" y="36576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min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45736" y="3218688"/>
            <a:ext cx="274320" cy="5486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4" name="Text 22"/>
          <p:cNvSpPr/>
          <p:nvPr/>
        </p:nvSpPr>
        <p:spPr>
          <a:xfrm>
            <a:off x="4690872" y="2926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5020056" y="1828800"/>
            <a:ext cx="2029968" cy="292608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.2105092908437327e+87" dist="4.539409840663996e+86" dir="2.9614883364510103e+102">
              <a:srgbClr val="000000">
                <a:alpha val="1.2e+104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20056" y="1828800"/>
            <a:ext cx="2029968" cy="502920"/>
          </a:xfrm>
          <a:prstGeom prst="rect">
            <a:avLst/>
          </a:prstGeom>
          <a:solidFill>
            <a:srgbClr val="006064"/>
          </a:solidFill>
          <a:ln/>
        </p:spPr>
      </p:sp>
      <p:sp>
        <p:nvSpPr>
          <p:cNvPr id="27" name="Text 25"/>
          <p:cNvSpPr/>
          <p:nvPr/>
        </p:nvSpPr>
        <p:spPr>
          <a:xfrm>
            <a:off x="5020056" y="1856232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111496" y="242316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DSCR modeled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111496" y="2834640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A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Debt service calc +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A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tests run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31536" y="3657600"/>
            <a:ext cx="1188720" cy="384048"/>
          </a:xfrm>
          <a:prstGeom prst="ellipse">
            <a:avLst/>
          </a:prstGeom>
          <a:solidFill>
            <a:srgbClr val="006064"/>
          </a:solidFill>
          <a:ln/>
        </p:spPr>
      </p:sp>
      <p:sp>
        <p:nvSpPr>
          <p:cNvPr id="31" name="Text 29"/>
          <p:cNvSpPr/>
          <p:nvPr/>
        </p:nvSpPr>
        <p:spPr>
          <a:xfrm>
            <a:off x="5431536" y="36576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min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050024" y="3218688"/>
            <a:ext cx="274320" cy="5486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3" name="Text 31"/>
          <p:cNvSpPr/>
          <p:nvPr/>
        </p:nvSpPr>
        <p:spPr>
          <a:xfrm>
            <a:off x="6995160" y="2926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7324344" y="1828800"/>
            <a:ext cx="2029968" cy="292608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.5373467993715405e+91" dist="5.765050497643275e+90" dir="1.7768930018706063e+107">
              <a:srgbClr val="000000">
                <a:alpha val="1.2e+109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324344" y="1828800"/>
            <a:ext cx="2029968" cy="5029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6" name="Text 34"/>
          <p:cNvSpPr/>
          <p:nvPr/>
        </p:nvSpPr>
        <p:spPr>
          <a:xfrm>
            <a:off x="7324344" y="1856232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7415784" y="242316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Comps verified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415784" y="2834640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A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 agent cites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A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comparable loans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7735824" y="3657600"/>
            <a:ext cx="1188720" cy="384048"/>
          </a:xfrm>
          <a:prstGeom prst="ellipse">
            <a:avLst/>
          </a:prstGeom>
          <a:solidFill>
            <a:srgbClr val="1B5E20"/>
          </a:solidFill>
          <a:ln/>
        </p:spPr>
      </p:sp>
      <p:sp>
        <p:nvSpPr>
          <p:cNvPr id="40" name="Text 38"/>
          <p:cNvSpPr/>
          <p:nvPr/>
        </p:nvSpPr>
        <p:spPr>
          <a:xfrm>
            <a:off x="7735824" y="36576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min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9354312" y="3218688"/>
            <a:ext cx="274320" cy="5486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2" name="Text 40"/>
          <p:cNvSpPr/>
          <p:nvPr/>
        </p:nvSpPr>
        <p:spPr>
          <a:xfrm>
            <a:off x="9299448" y="2926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9628632" y="1828800"/>
            <a:ext cx="2029968" cy="292608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.9524304352018566e+95" dist="7.321614132006959e+94" dir="1.0661358011223639e+112">
              <a:srgbClr val="000000">
                <a:alpha val="1.1999999999999999e+114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9628632" y="1828800"/>
            <a:ext cx="2029968" cy="502920"/>
          </a:xfrm>
          <a:prstGeom prst="rect">
            <a:avLst/>
          </a:prstGeom>
          <a:solidFill>
            <a:srgbClr val="C09000"/>
          </a:solidFill>
          <a:ln/>
        </p:spPr>
      </p:sp>
      <p:sp>
        <p:nvSpPr>
          <p:cNvPr id="45" name="Text 43"/>
          <p:cNvSpPr/>
          <p:nvPr/>
        </p:nvSpPr>
        <p:spPr>
          <a:xfrm>
            <a:off x="9628632" y="1856232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9720072" y="242316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 sheet ready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9720072" y="2834640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A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credit memo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A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risk summary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10040112" y="3657600"/>
            <a:ext cx="1188720" cy="384048"/>
          </a:xfrm>
          <a:prstGeom prst="ellipse">
            <a:avLst/>
          </a:prstGeom>
          <a:solidFill>
            <a:srgbClr val="C09000"/>
          </a:solidFill>
          <a:ln/>
        </p:spPr>
      </p:sp>
      <p:sp>
        <p:nvSpPr>
          <p:cNvPr id="49" name="Text 47"/>
          <p:cNvSpPr/>
          <p:nvPr/>
        </p:nvSpPr>
        <p:spPr>
          <a:xfrm>
            <a:off x="10040112" y="36576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min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11480" y="4206240"/>
            <a:ext cx="3657600" cy="2331720"/>
          </a:xfrm>
          <a:prstGeom prst="roundRect">
            <a:avLst>
              <a:gd name="adj" fmla="val 4706"/>
            </a:avLst>
          </a:prstGeom>
          <a:solidFill>
            <a:srgbClr val="DCEEFB"/>
          </a:solidFill>
          <a:ln/>
          <a:effectLst>
            <a:outerShdw sx="100000" sy="100000" kx="0" ky="0" algn="bl" rotWithShape="0" blurRad="2.4795866527063578e+99" dist="9.298449947648839e+98" dir="6.396814806734183e+116">
              <a:srgbClr val="000000">
                <a:alpha val="1.1999999999999998e+119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11480" y="4206240"/>
            <a:ext cx="3657600" cy="54864"/>
          </a:xfrm>
          <a:prstGeom prst="rect">
            <a:avLst/>
          </a:prstGeom>
          <a:solidFill>
            <a:srgbClr val="0D2D52"/>
          </a:solidFill>
          <a:ln/>
        </p:spPr>
      </p:sp>
      <p:sp>
        <p:nvSpPr>
          <p:cNvPr id="52" name="Text 50"/>
          <p:cNvSpPr/>
          <p:nvPr/>
        </p:nvSpPr>
        <p:spPr>
          <a:xfrm>
            <a:off x="548640" y="431596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 Zero math errors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548640" y="4736592"/>
            <a:ext cx="3383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A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VERITAS runs every DSCR calculation via two independent paths. Both must agree before output is released.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4297680" y="4206240"/>
            <a:ext cx="3657600" cy="2331720"/>
          </a:xfrm>
          <a:prstGeom prst="roundRect">
            <a:avLst>
              <a:gd name="adj" fmla="val 4706"/>
            </a:avLst>
          </a:prstGeom>
          <a:solidFill>
            <a:srgbClr val="DCEEFB"/>
          </a:solidFill>
          <a:ln/>
          <a:effectLst>
            <a:outerShdw sx="100000" sy="100000" kx="0" ky="0" algn="bl" rotWithShape="0" blurRad="3.149075048937074e+103" dist="1.1809031433514024e+103" dir="3.83808888404051e+121">
              <a:srgbClr val="000000">
                <a:alpha val="1.1999999999999998e+124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297680" y="4206240"/>
            <a:ext cx="3657600" cy="54864"/>
          </a:xfrm>
          <a:prstGeom prst="rect">
            <a:avLst/>
          </a:prstGeom>
          <a:solidFill>
            <a:srgbClr val="0D2D52"/>
          </a:solidFill>
          <a:ln/>
        </p:spPr>
      </p:sp>
      <p:sp>
        <p:nvSpPr>
          <p:cNvPr id="56" name="Text 54"/>
          <p:cNvSpPr/>
          <p:nvPr/>
        </p:nvSpPr>
        <p:spPr>
          <a:xfrm>
            <a:off x="4434840" y="431596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Audit trail built in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4434840" y="4736592"/>
            <a:ext cx="3383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A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assumption is cited. Every comp is sourced. Every calculation is traceable. Examiners love it.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8183880" y="4206240"/>
            <a:ext cx="3657600" cy="2331720"/>
          </a:xfrm>
          <a:prstGeom prst="roundRect">
            <a:avLst>
              <a:gd name="adj" fmla="val 4706"/>
            </a:avLst>
          </a:prstGeom>
          <a:solidFill>
            <a:srgbClr val="DCEEFB"/>
          </a:solidFill>
          <a:ln/>
          <a:effectLst>
            <a:outerShdw sx="100000" sy="100000" kx="0" ky="0" algn="bl" rotWithShape="0" blurRad="3.9993253121500844e+107" dist="1.499746992056281e+107" dir="2.302853330424306e+126">
              <a:srgbClr val="000000">
                <a:alpha val="1.1999999999999998e+129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8183880" y="4206240"/>
            <a:ext cx="3657600" cy="54864"/>
          </a:xfrm>
          <a:prstGeom prst="rect">
            <a:avLst/>
          </a:prstGeom>
          <a:solidFill>
            <a:srgbClr val="0D2D52"/>
          </a:solidFill>
          <a:ln/>
        </p:spPr>
      </p:sp>
      <p:sp>
        <p:nvSpPr>
          <p:cNvPr id="60" name="Text 58"/>
          <p:cNvSpPr/>
          <p:nvPr/>
        </p:nvSpPr>
        <p:spPr>
          <a:xfrm>
            <a:off x="8321040" y="431596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5 days → 31 minutes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8321040" y="4736592"/>
            <a:ext cx="3383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A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not just faster. You're first. In a 3-lender race, being first with a clean term sheet wins the business.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090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09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REVENUE STREAM.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Bird Dog / Broker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115568"/>
            <a:ext cx="9601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know deals before they hit the market. Finally, someone will pay you fairly for that intelligence.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572768"/>
            <a:ext cx="11247120" cy="36576"/>
          </a:xfrm>
          <a:prstGeom prst="rect">
            <a:avLst/>
          </a:prstGeom>
          <a:solidFill>
            <a:srgbClr val="C09000"/>
          </a:solidFill>
          <a:ln w="12700">
            <a:solidFill>
              <a:srgbClr val="C09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373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9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NEXUS Marketplace works for you: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212848"/>
            <a:ext cx="2606040" cy="3474720"/>
          </a:xfrm>
          <a:prstGeom prst="roundRect">
            <a:avLst>
              <a:gd name="adj" fmla="val 4211"/>
            </a:avLst>
          </a:prstGeom>
          <a:solidFill>
            <a:srgbClr val="0A1929"/>
          </a:solidFill>
          <a:ln/>
          <a:effectLst>
            <a:outerShdw sx="100000" sy="100000" kx="0" ky="0" algn="bl" rotWithShape="0" blurRad="1.3098406236880721e+42" dist="4.366135412293574e+41" dir="8.16293376e+49">
              <a:srgbClr val="000000">
                <a:alpha val="1.4000000000000002e+49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212848"/>
            <a:ext cx="2606040" cy="64008"/>
          </a:xfrm>
          <a:prstGeom prst="rect">
            <a:avLst/>
          </a:prstGeom>
          <a:solidFill>
            <a:srgbClr val="C0900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33172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🏘️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645920" y="2971800"/>
            <a:ext cx="594360" cy="502920"/>
          </a:xfrm>
          <a:prstGeom prst="ellipse">
            <a:avLst/>
          </a:prstGeom>
          <a:solidFill>
            <a:srgbClr val="C09000"/>
          </a:solidFill>
          <a:ln/>
        </p:spPr>
      </p:sp>
      <p:sp>
        <p:nvSpPr>
          <p:cNvPr id="12" name="Text 10"/>
          <p:cNvSpPr/>
          <p:nvPr/>
        </p:nvSpPr>
        <p:spPr>
          <a:xfrm>
            <a:off x="1645920" y="297180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49808" y="3566160"/>
            <a:ext cx="23957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know an off-market deal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68096" y="4041648"/>
            <a:ext cx="23774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 in distress on a retail strip. You've been talking to them for 6 months. The deal isn't on CoStar.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18688" y="3611880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520440" y="2212848"/>
            <a:ext cx="2606040" cy="3474720"/>
          </a:xfrm>
          <a:prstGeom prst="roundRect">
            <a:avLst>
              <a:gd name="adj" fmla="val 4211"/>
            </a:avLst>
          </a:prstGeom>
          <a:solidFill>
            <a:srgbClr val="0A1929"/>
          </a:solidFill>
          <a:ln/>
          <a:effectLst>
            <a:outerShdw sx="100000" sy="100000" kx="0" ky="0" algn="bl" rotWithShape="0" blurRad="1.6634975920838516e+46" dist="5.544991973612839e+45" dir="4.897760256e+54">
              <a:srgbClr val="000000">
                <a:alpha val="1.4e+54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520440" y="2212848"/>
            <a:ext cx="2606040" cy="640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3520440" y="233172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📲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4526280" y="2971800"/>
            <a:ext cx="594360" cy="50292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20" name="Text 18"/>
          <p:cNvSpPr/>
          <p:nvPr/>
        </p:nvSpPr>
        <p:spPr>
          <a:xfrm>
            <a:off x="4526280" y="297180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630168" y="3566160"/>
            <a:ext cx="23957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it to the Marketplace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648456" y="4041648"/>
            <a:ext cx="23774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RepID is your professional credential — built on your track record, not your resume. Submit the lead.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099048" y="3611880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400800" y="2212848"/>
            <a:ext cx="2606040" cy="3474720"/>
          </a:xfrm>
          <a:prstGeom prst="roundRect">
            <a:avLst>
              <a:gd name="adj" fmla="val 4211"/>
            </a:avLst>
          </a:prstGeom>
          <a:solidFill>
            <a:srgbClr val="0A1929"/>
          </a:solidFill>
          <a:ln/>
          <a:effectLst>
            <a:outerShdw sx="100000" sy="100000" kx="0" ky="0" algn="bl" rotWithShape="0" blurRad="2.1126419419464913e+50" dist="7.042139806488305e+49" dir="2.9386561536e+59">
              <a:srgbClr val="000000">
                <a:alpha val="1.4000000000000001e+59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0" y="2212848"/>
            <a:ext cx="2606040" cy="64008"/>
          </a:xfrm>
          <a:prstGeom prst="rect">
            <a:avLst/>
          </a:prstGeom>
          <a:solidFill>
            <a:srgbClr val="006064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233172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7406640" y="2971800"/>
            <a:ext cx="594360" cy="502920"/>
          </a:xfrm>
          <a:prstGeom prst="ellipse">
            <a:avLst/>
          </a:prstGeom>
          <a:solidFill>
            <a:srgbClr val="006064"/>
          </a:solidFill>
          <a:ln/>
        </p:spPr>
      </p:sp>
      <p:sp>
        <p:nvSpPr>
          <p:cNvPr id="28" name="Text 26"/>
          <p:cNvSpPr/>
          <p:nvPr/>
        </p:nvSpPr>
        <p:spPr>
          <a:xfrm>
            <a:off x="7406640" y="297180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510528" y="3566160"/>
            <a:ext cx="23957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identity is protected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528816" y="4041648"/>
            <a:ext cx="23774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address stays private until an LOI is signed. Buyers see the deal criteria. Not who found it.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979408" y="3611880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9281160" y="2212848"/>
            <a:ext cx="2606040" cy="3474720"/>
          </a:xfrm>
          <a:prstGeom prst="roundRect">
            <a:avLst>
              <a:gd name="adj" fmla="val 4211"/>
            </a:avLst>
          </a:prstGeom>
          <a:solidFill>
            <a:srgbClr val="0A1929"/>
          </a:solidFill>
          <a:ln/>
          <a:effectLst>
            <a:outerShdw sx="100000" sy="100000" kx="0" ky="0" algn="bl" rotWithShape="0" blurRad="2.683055266272044e+54" dist="8.943517554240149e+53" dir="1.76319369216e+64">
              <a:srgbClr val="000000">
                <a:alpha val="1.4e+64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281160" y="2212848"/>
            <a:ext cx="2606040" cy="64008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4" name="Text 32"/>
          <p:cNvSpPr/>
          <p:nvPr/>
        </p:nvSpPr>
        <p:spPr>
          <a:xfrm>
            <a:off x="9281160" y="233172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</a:t>
            </a:r>
            <a:endParaRPr lang="en-US" sz="2400" dirty="0"/>
          </a:p>
        </p:txBody>
      </p:sp>
      <p:sp>
        <p:nvSpPr>
          <p:cNvPr id="35" name="Shape 33"/>
          <p:cNvSpPr/>
          <p:nvPr/>
        </p:nvSpPr>
        <p:spPr>
          <a:xfrm>
            <a:off x="10287000" y="2971800"/>
            <a:ext cx="594360" cy="502920"/>
          </a:xfrm>
          <a:prstGeom prst="ellipse">
            <a:avLst/>
          </a:prstGeom>
          <a:solidFill>
            <a:srgbClr val="1B5E20"/>
          </a:solidFill>
          <a:ln/>
        </p:spPr>
      </p:sp>
      <p:sp>
        <p:nvSpPr>
          <p:cNvPr id="36" name="Text 34"/>
          <p:cNvSpPr/>
          <p:nvPr/>
        </p:nvSpPr>
        <p:spPr>
          <a:xfrm>
            <a:off x="10287000" y="297180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9390888" y="3566160"/>
            <a:ext cx="23957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 closes. You get paid.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9409176" y="4041648"/>
            <a:ext cx="23774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contract auto-executes your finder fee. 2% wired to your wallet the day it closes. No invoice. No chase.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40080" y="5806440"/>
            <a:ext cx="10789920" cy="841248"/>
          </a:xfrm>
          <a:prstGeom prst="roundRect">
            <a:avLst>
              <a:gd name="adj" fmla="val 13043"/>
            </a:avLst>
          </a:prstGeom>
          <a:solidFill>
            <a:srgbClr val="112240"/>
          </a:solidFill>
          <a:ln/>
          <a:effectLst>
            <a:outerShdw sx="100000" sy="100000" kx="0" ky="0" algn="bl" rotWithShape="0" blurRad="5.079143146430607e+111" dist="1.904678679911477e+111" dir="1.3817119982545836e+131">
              <a:srgbClr val="000000">
                <a:alpha val="1.1999999999999998e+134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40080" y="5806440"/>
            <a:ext cx="10789920" cy="54864"/>
          </a:xfrm>
          <a:prstGeom prst="rect">
            <a:avLst/>
          </a:prstGeom>
          <a:solidFill>
            <a:srgbClr val="C09000"/>
          </a:solidFill>
          <a:ln/>
        </p:spPr>
      </p:sp>
      <p:sp>
        <p:nvSpPr>
          <p:cNvPr id="41" name="Text 39"/>
          <p:cNvSpPr/>
          <p:nvPr/>
        </p:nvSpPr>
        <p:spPr>
          <a:xfrm>
            <a:off x="822960" y="590702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9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 Your RepID Score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3840480" y="5870448"/>
            <a:ext cx="7406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deal you source, every comp you submit, every accurate prediction builds your reputation score. Top RepID holders command premium placement — and higher finder fees. It's the professional credential that actually reflects what you know.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606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0D2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CoStar charges you $50,000 a year</a:t>
            </a:r>
            <a:endParaRPr lang="en-US" sz="2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0D2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data you already know.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60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 pays you for it.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901952"/>
            <a:ext cx="11247120" cy="36576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2103120"/>
            <a:ext cx="3200400" cy="4389120"/>
          </a:xfrm>
          <a:prstGeom prst="roundRect">
            <a:avLst>
              <a:gd name="adj" fmla="val 4286"/>
            </a:avLst>
          </a:prstGeom>
          <a:solidFill>
            <a:srgbClr val="F0FAFA"/>
          </a:solidFill>
          <a:ln/>
          <a:effectLst>
            <a:outerShdw sx="100000" sy="100000" kx="0" ky="0" algn="bl" rotWithShape="0" blurRad="6.450511795966871e+115" dist="2.418941923487576e+115" dir="8.290271989527502e+135">
              <a:srgbClr val="000000">
                <a:alpha val="1.1999999999999998e+139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2103120"/>
            <a:ext cx="3200400" cy="502920"/>
          </a:xfrm>
          <a:prstGeom prst="rect">
            <a:avLst/>
          </a:prstGeom>
          <a:solidFill>
            <a:srgbClr val="006064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212140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SELLERS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743200"/>
            <a:ext cx="29260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.192149980877925e+119" dist="3.0720562428292216e+119" dir="4.974163193716501e+140">
              <a:srgbClr val="000000">
                <a:alpha val="1.1999999999999999e+144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27889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60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🏘️ Brokers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0080" y="3090672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 transactions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off-market leads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3657600"/>
            <a:ext cx="29260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.0404030475714965e+124" dist="3.9015114283931116e+123" dir="2.9844979162299e+145">
              <a:srgbClr val="000000">
                <a:alpha val="1.1999999999999998e+149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37033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60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 Property Mgrs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" y="4005072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 rolls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T-12 actuals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" y="4572000"/>
            <a:ext cx="29260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.3213118704158005e+128" dist="4.954919514059251e+127" dir="1.79069874973794e+150">
              <a:srgbClr val="000000">
                <a:alpha val="1.1999999999999998e+154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46177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60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Research Firms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0080" y="4919472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reports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cap rate surveys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5486400"/>
            <a:ext cx="29260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.6780660754280665e+132" dist="6.2927477828552495e+131" dir="1.074419249842764e+155">
              <a:srgbClr val="000000">
                <a:alpha val="1.1999999999999998e+159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" y="55321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60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 Bird Dogs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" y="5833872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Off-market intel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deal sourcing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977640" y="3108960"/>
            <a:ext cx="4114800" cy="2743200"/>
          </a:xfrm>
          <a:prstGeom prst="ellipse">
            <a:avLst/>
          </a:prstGeom>
          <a:solidFill>
            <a:srgbClr val="0D2D52"/>
          </a:solidFill>
          <a:ln/>
          <a:effectLst>
            <a:outerShdw sx="100000" sy="100000" kx="0" ky="0" algn="bl" rotWithShape="0" blurRad="3.4074801881654956e+58" dist="1.1358267293884988e+58" dir="1.057916215296e+69">
              <a:srgbClr val="000000">
                <a:alpha val="1.4000000000000001e+69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977640" y="33832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114800" y="4315968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09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AI-verified data</a:t>
            </a:r>
            <a:endParaRPr lang="en-US" sz="10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09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Privacy-protected</a:t>
            </a:r>
            <a:endParaRPr lang="en-US" sz="10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09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 pay for sourcing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584448" y="4462272"/>
            <a:ext cx="411480" cy="54864"/>
          </a:xfrm>
          <a:prstGeom prst="rect">
            <a:avLst/>
          </a:prstGeom>
          <a:solidFill>
            <a:srgbClr val="006064"/>
          </a:solidFill>
          <a:ln/>
        </p:spPr>
      </p:sp>
      <p:sp>
        <p:nvSpPr>
          <p:cNvPr id="25" name="Text 23"/>
          <p:cNvSpPr/>
          <p:nvPr/>
        </p:nvSpPr>
        <p:spPr>
          <a:xfrm>
            <a:off x="3520440" y="42519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60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065008" y="4462272"/>
            <a:ext cx="41148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7" name="Text 25"/>
          <p:cNvSpPr/>
          <p:nvPr/>
        </p:nvSpPr>
        <p:spPr>
          <a:xfrm>
            <a:off x="8046720" y="42519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8503920" y="2103120"/>
            <a:ext cx="3383280" cy="4389120"/>
          </a:xfrm>
          <a:prstGeom prst="roundRect">
            <a:avLst>
              <a:gd name="adj" fmla="val 4054"/>
            </a:avLst>
          </a:prstGeom>
          <a:solidFill>
            <a:srgbClr val="EEF4FF"/>
          </a:solidFill>
          <a:ln/>
          <a:effectLst>
            <a:outerShdw sx="100000" sy="100000" kx="0" ky="0" algn="bl" rotWithShape="0" blurRad="2.1311439157936445e+136" dist="7.991789684226167e+135" dir="6.4465154990565844e+159">
              <a:srgbClr val="000000">
                <a:alpha val="1.1999999999999998e+164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503920" y="2103120"/>
            <a:ext cx="3383280" cy="5029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0" y="212140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BUYERS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641080" y="2743200"/>
            <a:ext cx="31089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.7065527730579285e+140" dist="1.0149572898967231e+140" dir="3.8679092994339505e+164">
              <a:srgbClr val="000000">
                <a:alpha val="1.1999999999999998e+169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796528" y="27889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🏦 Lenders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796528" y="3090672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Comps + rent data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underwriting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641080" y="3657600"/>
            <a:ext cx="31089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.4373220217835694e+144" dist="1.2889957581688384e+144" dir="2.3207455796603705e+169">
              <a:srgbClr val="000000">
                <a:alpha val="1.1999999999999997e+174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796528" y="37033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💼 REPE Firms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8796528" y="4005072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research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deal sourcing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8641080" y="4572000"/>
            <a:ext cx="31089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4.3653989676651333e+148" dist="1.6370246128744248e+148" dir="1.3924473477962223e+174">
              <a:srgbClr val="000000">
                <a:alpha val="1.1999999999999996e+179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8796528" y="46177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Investors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8796528" y="4919472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Off-market deals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analysis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641080" y="5486400"/>
            <a:ext cx="31089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.54405668893472e+152" dist="2.0790212583505195e+152" dir="8.354684086777334e+178">
              <a:srgbClr val="000000">
                <a:alpha val="1.1999999999999996e+184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8796528" y="55321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Appraisers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8796528" y="5833872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comps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market data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57200" y="6492240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60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Airbnb of CRE Data — we own nothing. We power everything.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090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should you trust the number?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5 independent experts checked it — and they all have to agree.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11247120" cy="36576"/>
          </a:xfrm>
          <a:prstGeom prst="rect">
            <a:avLst/>
          </a:prstGeom>
          <a:solidFill>
            <a:srgbClr val="C09000"/>
          </a:solidFill>
          <a:ln w="12700">
            <a:solidFill>
              <a:srgbClr val="C09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17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9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of it like a panel review on every deal.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10789920" cy="804672"/>
          </a:xfrm>
          <a:prstGeom prst="roundRect">
            <a:avLst>
              <a:gd name="adj" fmla="val 11364"/>
            </a:avLst>
          </a:prstGeom>
          <a:solidFill>
            <a:srgbClr val="0A1929"/>
          </a:solidFill>
          <a:ln/>
          <a:effectLst>
            <a:outerShdw sx="100000" sy="100000" kx="0" ky="0" algn="bl" rotWithShape="0" blurRad="7.040951994947093e+156" dist="2.64035699810516e+156" dir="5.0128104520664e+183">
              <a:srgbClr val="000000">
                <a:alpha val="1.1999999999999995e+189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920240"/>
            <a:ext cx="109728" cy="80467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08483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👩‍💼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44752" y="199339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Underwriter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444752" y="2340864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1B5E20"/>
          </a:solidFill>
          <a:ln/>
        </p:spPr>
      </p:sp>
      <p:sp>
        <p:nvSpPr>
          <p:cNvPr id="12" name="Text 10"/>
          <p:cNvSpPr/>
          <p:nvPr/>
        </p:nvSpPr>
        <p:spPr>
          <a:xfrm>
            <a:off x="1444752" y="23408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SOPHIA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063240" y="20299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"Are these assumptions reasonable for this market and property type?"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2834640"/>
            <a:ext cx="10789920" cy="804672"/>
          </a:xfrm>
          <a:prstGeom prst="roundRect">
            <a:avLst>
              <a:gd name="adj" fmla="val 11364"/>
            </a:avLst>
          </a:prstGeom>
          <a:solidFill>
            <a:srgbClr val="0A1929"/>
          </a:solidFill>
          <a:ln/>
          <a:effectLst>
            <a:outerShdw sx="100000" sy="100000" kx="0" ky="0" algn="bl" rotWithShape="0" blurRad="8.942009033582808e+160" dist="3.353253387593553e+160" dir="3.00768627123984e+188">
              <a:srgbClr val="000000">
                <a:alpha val="1.1999999999999995e+194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2834640"/>
            <a:ext cx="109728" cy="80467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99923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🧮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44752" y="290779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Chief Math Officer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444752" y="3255264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1565C0"/>
          </a:solidFill>
          <a:ln/>
        </p:spPr>
      </p:sp>
      <p:sp>
        <p:nvSpPr>
          <p:cNvPr id="19" name="Text 17"/>
          <p:cNvSpPr/>
          <p:nvPr/>
        </p:nvSpPr>
        <p:spPr>
          <a:xfrm>
            <a:off x="1444752" y="32552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VERITAS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063240" y="29443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"Is the IRR calculation correct? (Run it twice. Two different methods. They must match.)"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3749040"/>
            <a:ext cx="10789920" cy="804672"/>
          </a:xfrm>
          <a:prstGeom prst="roundRect">
            <a:avLst>
              <a:gd name="adj" fmla="val 11364"/>
            </a:avLst>
          </a:prstGeom>
          <a:solidFill>
            <a:srgbClr val="0A1929"/>
          </a:solidFill>
          <a:ln/>
          <a:effectLst>
            <a:outerShdw sx="100000" sy="100000" kx="0" ky="0" algn="bl" rotWithShape="0" blurRad="1.1356351472650167e+165" dist="4.2586318022438123e+164" dir="1.804611762743904e+193">
              <a:srgbClr val="000000">
                <a:alpha val="1.1999999999999994e+199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" y="3749040"/>
            <a:ext cx="109728" cy="804672"/>
          </a:xfrm>
          <a:prstGeom prst="rect">
            <a:avLst/>
          </a:prstGeom>
          <a:solidFill>
            <a:srgbClr val="006064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391363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444752" y="382219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 Specialist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444752" y="4169664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006064"/>
          </a:solidFill>
          <a:ln/>
        </p:spPr>
      </p:sp>
      <p:sp>
        <p:nvSpPr>
          <p:cNvPr id="26" name="Text 24"/>
          <p:cNvSpPr/>
          <p:nvPr/>
        </p:nvSpPr>
        <p:spPr>
          <a:xfrm>
            <a:off x="1444752" y="41696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063240" y="38587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"Are these the right comparable sales? Are they recent enough? Are they really similar?"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" y="4663440"/>
            <a:ext cx="10789920" cy="804672"/>
          </a:xfrm>
          <a:prstGeom prst="roundRect">
            <a:avLst>
              <a:gd name="adj" fmla="val 11364"/>
            </a:avLst>
          </a:prstGeom>
          <a:solidFill>
            <a:srgbClr val="0A1929"/>
          </a:solidFill>
          <a:ln/>
          <a:effectLst>
            <a:outerShdw sx="100000" sy="100000" kx="0" ky="0" algn="bl" rotWithShape="0" blurRad="1.4422566370265713e+169" dist="5.408462388849642e+168" dir="1.0827670576463424e+198">
              <a:srgbClr val="000000">
                <a:alpha val="1.1999999999999994e+204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0080" y="4663440"/>
            <a:ext cx="109728" cy="804672"/>
          </a:xfrm>
          <a:prstGeom prst="rect">
            <a:avLst/>
          </a:prstGeom>
          <a:solidFill>
            <a:srgbClr val="0D2D52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482803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🗂️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444752" y="473659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 Room Manager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444752" y="5084064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0D2D52"/>
          </a:solidFill>
          <a:ln/>
        </p:spPr>
      </p:sp>
      <p:sp>
        <p:nvSpPr>
          <p:cNvPr id="33" name="Text 31"/>
          <p:cNvSpPr/>
          <p:nvPr/>
        </p:nvSpPr>
        <p:spPr>
          <a:xfrm>
            <a:off x="1444752" y="50840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063240" y="4773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"Were all required inputs present? Was anything skipped or estimated without flagging it?"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40080" y="5577840"/>
            <a:ext cx="10789920" cy="804672"/>
          </a:xfrm>
          <a:prstGeom prst="roundRect">
            <a:avLst>
              <a:gd name="adj" fmla="val 11364"/>
            </a:avLst>
          </a:prstGeom>
          <a:solidFill>
            <a:srgbClr val="0A1929"/>
          </a:solidFill>
          <a:ln/>
          <a:effectLst>
            <a:outerShdw sx="100000" sy="100000" kx="0" ky="0" algn="bl" rotWithShape="0" blurRad="1.8316659290237455e+173" dist="6.868747233839046e+172" dir="6.496602345878055e+202">
              <a:srgbClr val="000000">
                <a:alpha val="1.1999999999999994e+209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40080" y="5577840"/>
            <a:ext cx="109728" cy="804672"/>
          </a:xfrm>
          <a:prstGeom prst="rect">
            <a:avLst/>
          </a:prstGeom>
          <a:solidFill>
            <a:srgbClr val="C09000"/>
          </a:solidFill>
          <a:ln/>
        </p:spPr>
      </p:sp>
      <p:sp>
        <p:nvSpPr>
          <p:cNvPr id="37" name="Text 35"/>
          <p:cNvSpPr/>
          <p:nvPr/>
        </p:nvSpPr>
        <p:spPr>
          <a:xfrm>
            <a:off x="822960" y="574243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1444752" y="565099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Control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1444752" y="5998464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C09000"/>
          </a:solidFill>
          <a:ln/>
        </p:spPr>
      </p:sp>
      <p:sp>
        <p:nvSpPr>
          <p:cNvPr id="40" name="Text 38"/>
          <p:cNvSpPr/>
          <p:nvPr/>
        </p:nvSpPr>
        <p:spPr>
          <a:xfrm>
            <a:off x="1444752" y="59984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SHOFET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063240" y="56875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"Does any expert have a serious objection? If yes — the output doesn't leave until it's resolved."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40080" y="6492240"/>
            <a:ext cx="10789920" cy="228600"/>
          </a:xfrm>
          <a:prstGeom prst="roundRect">
            <a:avLst>
              <a:gd name="adj" fmla="val 32000"/>
            </a:avLst>
          </a:prstGeom>
          <a:solidFill>
            <a:srgbClr val="112240"/>
          </a:solidFill>
          <a:ln/>
        </p:spPr>
      </p:sp>
      <p:sp>
        <p:nvSpPr>
          <p:cNvPr id="43" name="Text 41"/>
          <p:cNvSpPr/>
          <p:nvPr/>
        </p:nvSpPr>
        <p:spPr>
          <a:xfrm>
            <a:off x="777240" y="6510528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C09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when all five agree does the answer leave NEXUS. That's not a feature. That's an institutional standard.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80760" cy="6858000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3" name="Shape 1"/>
          <p:cNvSpPr/>
          <p:nvPr/>
        </p:nvSpPr>
        <p:spPr>
          <a:xfrm>
            <a:off x="6080760" y="0"/>
            <a:ext cx="6080760" cy="6858000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4" name="Shape 2"/>
          <p:cNvSpPr/>
          <p:nvPr/>
        </p:nvSpPr>
        <p:spPr>
          <a:xfrm>
            <a:off x="6016752" y="0"/>
            <a:ext cx="128016" cy="68580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6080760" cy="594360"/>
          </a:xfrm>
          <a:prstGeom prst="rect">
            <a:avLst/>
          </a:prstGeom>
          <a:solidFill>
            <a:srgbClr val="7B0000"/>
          </a:solidFill>
          <a:ln/>
        </p:spPr>
      </p:sp>
      <p:sp>
        <p:nvSpPr>
          <p:cNvPr id="6" name="Shape 4"/>
          <p:cNvSpPr/>
          <p:nvPr/>
        </p:nvSpPr>
        <p:spPr>
          <a:xfrm>
            <a:off x="6080760" y="0"/>
            <a:ext cx="6080760" cy="5943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" y="64008"/>
            <a:ext cx="5760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ARGUS + EXCEL + MANUAL PROCESS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0" y="64008"/>
            <a:ext cx="5760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 CRE INTELLIGENCE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" y="768096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First-pass model time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48840" y="786384"/>
            <a:ext cx="3566160" cy="347472"/>
          </a:xfrm>
          <a:prstGeom prst="roundRect">
            <a:avLst>
              <a:gd name="adj" fmla="val 15789"/>
            </a:avLst>
          </a:prstGeom>
          <a:solidFill>
            <a:srgbClr val="FFE8E8"/>
          </a:solidFill>
          <a:ln/>
        </p:spPr>
      </p:sp>
      <p:sp>
        <p:nvSpPr>
          <p:cNvPr id="11" name="Text 9"/>
          <p:cNvSpPr/>
          <p:nvPr/>
        </p:nvSpPr>
        <p:spPr>
          <a:xfrm>
            <a:off x="2194560" y="786384"/>
            <a:ext cx="347472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3–5 days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786384"/>
            <a:ext cx="5623560" cy="347472"/>
          </a:xfrm>
          <a:prstGeom prst="roundRect">
            <a:avLst>
              <a:gd name="adj" fmla="val 15789"/>
            </a:avLst>
          </a:prstGeom>
          <a:solidFill>
            <a:srgbClr val="D4EDDA"/>
          </a:solidFill>
          <a:ln/>
        </p:spPr>
      </p:sp>
      <p:sp>
        <p:nvSpPr>
          <p:cNvPr id="13" name="Text 11"/>
          <p:cNvSpPr/>
          <p:nvPr/>
        </p:nvSpPr>
        <p:spPr>
          <a:xfrm>
            <a:off x="6263640" y="786384"/>
            <a:ext cx="553212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&lt; 30 minutes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37160" y="1275588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 roll data entry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148840" y="1293876"/>
            <a:ext cx="3566160" cy="347472"/>
          </a:xfrm>
          <a:prstGeom prst="roundRect">
            <a:avLst>
              <a:gd name="adj" fmla="val 15789"/>
            </a:avLst>
          </a:prstGeom>
          <a:solidFill>
            <a:srgbClr val="FFE8E8"/>
          </a:solidFill>
          <a:ln/>
        </p:spPr>
      </p:sp>
      <p:sp>
        <p:nvSpPr>
          <p:cNvPr id="16" name="Text 14"/>
          <p:cNvSpPr/>
          <p:nvPr/>
        </p:nvSpPr>
        <p:spPr>
          <a:xfrm>
            <a:off x="2194560" y="1293876"/>
            <a:ext cx="347472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2–6 hours manual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1293876"/>
            <a:ext cx="5623560" cy="347472"/>
          </a:xfrm>
          <a:prstGeom prst="roundRect">
            <a:avLst>
              <a:gd name="adj" fmla="val 15789"/>
            </a:avLst>
          </a:prstGeom>
          <a:solidFill>
            <a:srgbClr val="D4EDDA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1293876"/>
            <a:ext cx="553212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90 seconds AI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37160" y="1783080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 sourcing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148840" y="1801368"/>
            <a:ext cx="3566160" cy="347472"/>
          </a:xfrm>
          <a:prstGeom prst="roundRect">
            <a:avLst>
              <a:gd name="adj" fmla="val 15789"/>
            </a:avLst>
          </a:prstGeom>
          <a:solidFill>
            <a:srgbClr val="FFE8E8"/>
          </a:solidFill>
          <a:ln/>
        </p:spPr>
      </p:sp>
      <p:sp>
        <p:nvSpPr>
          <p:cNvPr id="21" name="Text 19"/>
          <p:cNvSpPr/>
          <p:nvPr/>
        </p:nvSpPr>
        <p:spPr>
          <a:xfrm>
            <a:off x="2194560" y="1801368"/>
            <a:ext cx="347472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Half-day on CoStar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17920" y="1801368"/>
            <a:ext cx="5623560" cy="347472"/>
          </a:xfrm>
          <a:prstGeom prst="roundRect">
            <a:avLst>
              <a:gd name="adj" fmla="val 15789"/>
            </a:avLst>
          </a:prstGeom>
          <a:solidFill>
            <a:srgbClr val="D4EDDA"/>
          </a:solidFill>
          <a:ln/>
        </p:spPr>
      </p:sp>
      <p:sp>
        <p:nvSpPr>
          <p:cNvPr id="23" name="Text 21"/>
          <p:cNvSpPr/>
          <p:nvPr/>
        </p:nvSpPr>
        <p:spPr>
          <a:xfrm>
            <a:off x="6263640" y="1801368"/>
            <a:ext cx="553212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Auto-sourced &amp; cited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37160" y="2290572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of scenarios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148840" y="2308860"/>
            <a:ext cx="3566160" cy="347472"/>
          </a:xfrm>
          <a:prstGeom prst="roundRect">
            <a:avLst>
              <a:gd name="adj" fmla="val 15789"/>
            </a:avLst>
          </a:prstGeom>
          <a:solidFill>
            <a:srgbClr val="FFE8E8"/>
          </a:solidFill>
          <a:ln/>
        </p:spPr>
      </p:sp>
      <p:sp>
        <p:nvSpPr>
          <p:cNvPr id="26" name="Text 24"/>
          <p:cNvSpPr/>
          <p:nvPr/>
        </p:nvSpPr>
        <p:spPr>
          <a:xfrm>
            <a:off x="2194560" y="2308860"/>
            <a:ext cx="347472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1–2 (time-limited)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17920" y="2308860"/>
            <a:ext cx="5623560" cy="347472"/>
          </a:xfrm>
          <a:prstGeom prst="roundRect">
            <a:avLst>
              <a:gd name="adj" fmla="val 15789"/>
            </a:avLst>
          </a:prstGeom>
          <a:solidFill>
            <a:srgbClr val="D4EDDA"/>
          </a:solidFill>
          <a:ln/>
        </p:spPr>
      </p:sp>
      <p:sp>
        <p:nvSpPr>
          <p:cNvPr id="28" name="Text 26"/>
          <p:cNvSpPr/>
          <p:nvPr/>
        </p:nvSpPr>
        <p:spPr>
          <a:xfrm>
            <a:off x="6263640" y="2308860"/>
            <a:ext cx="553212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10+ simultaneously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37160" y="2798064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 verification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148840" y="2816352"/>
            <a:ext cx="3566160" cy="347472"/>
          </a:xfrm>
          <a:prstGeom prst="roundRect">
            <a:avLst>
              <a:gd name="adj" fmla="val 15789"/>
            </a:avLst>
          </a:prstGeom>
          <a:solidFill>
            <a:srgbClr val="FFE8E8"/>
          </a:solidFill>
          <a:ln/>
        </p:spPr>
      </p:sp>
      <p:sp>
        <p:nvSpPr>
          <p:cNvPr id="31" name="Text 29"/>
          <p:cNvSpPr/>
          <p:nvPr/>
        </p:nvSpPr>
        <p:spPr>
          <a:xfrm>
            <a:off x="2194560" y="2816352"/>
            <a:ext cx="347472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Manual check by analyst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17920" y="2816352"/>
            <a:ext cx="5623560" cy="347472"/>
          </a:xfrm>
          <a:prstGeom prst="roundRect">
            <a:avLst>
              <a:gd name="adj" fmla="val 15789"/>
            </a:avLst>
          </a:prstGeom>
          <a:solidFill>
            <a:srgbClr val="D4EDDA"/>
          </a:solidFill>
          <a:ln/>
        </p:spPr>
      </p:sp>
      <p:sp>
        <p:nvSpPr>
          <p:cNvPr id="33" name="Text 31"/>
          <p:cNvSpPr/>
          <p:nvPr/>
        </p:nvSpPr>
        <p:spPr>
          <a:xfrm>
            <a:off x="6263640" y="2816352"/>
            <a:ext cx="553212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Dual-verified, 8 decimal places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37160" y="3305556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 memo writing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148840" y="3323844"/>
            <a:ext cx="3566160" cy="347472"/>
          </a:xfrm>
          <a:prstGeom prst="roundRect">
            <a:avLst>
              <a:gd name="adj" fmla="val 15789"/>
            </a:avLst>
          </a:prstGeom>
          <a:solidFill>
            <a:srgbClr val="FFE8E8"/>
          </a:solidFill>
          <a:ln/>
        </p:spPr>
      </p:sp>
      <p:sp>
        <p:nvSpPr>
          <p:cNvPr id="36" name="Text 34"/>
          <p:cNvSpPr/>
          <p:nvPr/>
        </p:nvSpPr>
        <p:spPr>
          <a:xfrm>
            <a:off x="2194560" y="3323844"/>
            <a:ext cx="347472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4–8 hours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217920" y="3323844"/>
            <a:ext cx="5623560" cy="347472"/>
          </a:xfrm>
          <a:prstGeom prst="roundRect">
            <a:avLst>
              <a:gd name="adj" fmla="val 15789"/>
            </a:avLst>
          </a:prstGeom>
          <a:solidFill>
            <a:srgbClr val="D4EDDA"/>
          </a:solidFill>
          <a:ln/>
        </p:spPr>
      </p:sp>
      <p:sp>
        <p:nvSpPr>
          <p:cNvPr id="38" name="Text 36"/>
          <p:cNvSpPr/>
          <p:nvPr/>
        </p:nvSpPr>
        <p:spPr>
          <a:xfrm>
            <a:off x="6263640" y="3323844"/>
            <a:ext cx="553212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Included. Auto-generated.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37160" y="3813048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Deals analyzed per week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148840" y="3831336"/>
            <a:ext cx="3566160" cy="347472"/>
          </a:xfrm>
          <a:prstGeom prst="roundRect">
            <a:avLst>
              <a:gd name="adj" fmla="val 15789"/>
            </a:avLst>
          </a:prstGeom>
          <a:solidFill>
            <a:srgbClr val="FFE8E8"/>
          </a:solidFill>
          <a:ln/>
        </p:spPr>
      </p:sp>
      <p:sp>
        <p:nvSpPr>
          <p:cNvPr id="41" name="Text 39"/>
          <p:cNvSpPr/>
          <p:nvPr/>
        </p:nvSpPr>
        <p:spPr>
          <a:xfrm>
            <a:off x="2194560" y="3831336"/>
            <a:ext cx="347472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3–5 per analyst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217920" y="3831336"/>
            <a:ext cx="5623560" cy="347472"/>
          </a:xfrm>
          <a:prstGeom prst="roundRect">
            <a:avLst>
              <a:gd name="adj" fmla="val 15789"/>
            </a:avLst>
          </a:prstGeom>
          <a:solidFill>
            <a:srgbClr val="D4EDDA"/>
          </a:solidFill>
          <a:ln/>
        </p:spPr>
      </p:sp>
      <p:sp>
        <p:nvSpPr>
          <p:cNvPr id="43" name="Text 41"/>
          <p:cNvSpPr/>
          <p:nvPr/>
        </p:nvSpPr>
        <p:spPr>
          <a:xfrm>
            <a:off x="6263640" y="3831336"/>
            <a:ext cx="553212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Unlimited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37160" y="4320540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cost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148840" y="4338828"/>
            <a:ext cx="3566160" cy="347472"/>
          </a:xfrm>
          <a:prstGeom prst="roundRect">
            <a:avLst>
              <a:gd name="adj" fmla="val 15789"/>
            </a:avLst>
          </a:prstGeom>
          <a:solidFill>
            <a:srgbClr val="FFE8E8"/>
          </a:solidFill>
          <a:ln/>
        </p:spPr>
      </p:sp>
      <p:sp>
        <p:nvSpPr>
          <p:cNvPr id="46" name="Text 44"/>
          <p:cNvSpPr/>
          <p:nvPr/>
        </p:nvSpPr>
        <p:spPr>
          <a:xfrm>
            <a:off x="2194560" y="4338828"/>
            <a:ext cx="347472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$5K–$15K per seat per year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217920" y="4338828"/>
            <a:ext cx="5623560" cy="347472"/>
          </a:xfrm>
          <a:prstGeom prst="roundRect">
            <a:avLst>
              <a:gd name="adj" fmla="val 15789"/>
            </a:avLst>
          </a:prstGeom>
          <a:solidFill>
            <a:srgbClr val="D4EDDA"/>
          </a:solidFill>
          <a:ln/>
        </p:spPr>
      </p:sp>
      <p:sp>
        <p:nvSpPr>
          <p:cNvPr id="48" name="Text 46"/>
          <p:cNvSpPr/>
          <p:nvPr/>
        </p:nvSpPr>
        <p:spPr>
          <a:xfrm>
            <a:off x="6263640" y="4338828"/>
            <a:ext cx="553212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$199–$999/mo per seat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37160" y="4828032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Collaboration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148840" y="4846320"/>
            <a:ext cx="3566160" cy="347472"/>
          </a:xfrm>
          <a:prstGeom prst="roundRect">
            <a:avLst>
              <a:gd name="adj" fmla="val 15789"/>
            </a:avLst>
          </a:prstGeom>
          <a:solidFill>
            <a:srgbClr val="FFE8E8"/>
          </a:solidFill>
          <a:ln/>
        </p:spPr>
      </p:sp>
      <p:sp>
        <p:nvSpPr>
          <p:cNvPr id="51" name="Text 49"/>
          <p:cNvSpPr/>
          <p:nvPr/>
        </p:nvSpPr>
        <p:spPr>
          <a:xfrm>
            <a:off x="2194560" y="4846320"/>
            <a:ext cx="347472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Email + Dropbox versions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217920" y="4846320"/>
            <a:ext cx="5623560" cy="347472"/>
          </a:xfrm>
          <a:prstGeom prst="roundRect">
            <a:avLst>
              <a:gd name="adj" fmla="val 15789"/>
            </a:avLst>
          </a:prstGeom>
          <a:solidFill>
            <a:srgbClr val="D4EDDA"/>
          </a:solidFill>
          <a:ln/>
        </p:spPr>
      </p:sp>
      <p:sp>
        <p:nvSpPr>
          <p:cNvPr id="53" name="Text 51"/>
          <p:cNvSpPr/>
          <p:nvPr/>
        </p:nvSpPr>
        <p:spPr>
          <a:xfrm>
            <a:off x="6263640" y="4846320"/>
            <a:ext cx="553212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Live, real-time, role-based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137160" y="5335524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data refresh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148840" y="5353812"/>
            <a:ext cx="3566160" cy="347472"/>
          </a:xfrm>
          <a:prstGeom prst="roundRect">
            <a:avLst>
              <a:gd name="adj" fmla="val 15789"/>
            </a:avLst>
          </a:prstGeom>
          <a:solidFill>
            <a:srgbClr val="FFE8E8"/>
          </a:solidFill>
          <a:ln/>
        </p:spPr>
      </p:sp>
      <p:sp>
        <p:nvSpPr>
          <p:cNvPr id="56" name="Text 54"/>
          <p:cNvSpPr/>
          <p:nvPr/>
        </p:nvSpPr>
        <p:spPr>
          <a:xfrm>
            <a:off x="2194560" y="5353812"/>
            <a:ext cx="347472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Manual, when you remember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217920" y="5353812"/>
            <a:ext cx="5623560" cy="347472"/>
          </a:xfrm>
          <a:prstGeom prst="roundRect">
            <a:avLst>
              <a:gd name="adj" fmla="val 15789"/>
            </a:avLst>
          </a:prstGeom>
          <a:solidFill>
            <a:srgbClr val="D4EDDA"/>
          </a:solidFill>
          <a:ln/>
        </p:spPr>
      </p:sp>
      <p:sp>
        <p:nvSpPr>
          <p:cNvPr id="58" name="Text 56"/>
          <p:cNvSpPr/>
          <p:nvPr/>
        </p:nvSpPr>
        <p:spPr>
          <a:xfrm>
            <a:off x="6263640" y="5353812"/>
            <a:ext cx="553212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Live, automated, cited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137160" y="5843016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2148840" y="5861304"/>
            <a:ext cx="3566160" cy="347472"/>
          </a:xfrm>
          <a:prstGeom prst="roundRect">
            <a:avLst>
              <a:gd name="adj" fmla="val 15789"/>
            </a:avLst>
          </a:prstGeom>
          <a:solidFill>
            <a:srgbClr val="FFE8E8"/>
          </a:solidFill>
          <a:ln/>
        </p:spPr>
      </p:sp>
      <p:sp>
        <p:nvSpPr>
          <p:cNvPr id="61" name="Text 59"/>
          <p:cNvSpPr/>
          <p:nvPr/>
        </p:nvSpPr>
        <p:spPr>
          <a:xfrm>
            <a:off x="2194560" y="5861304"/>
            <a:ext cx="347472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Wherever you saved the file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6217920" y="5861304"/>
            <a:ext cx="5623560" cy="347472"/>
          </a:xfrm>
          <a:prstGeom prst="roundRect">
            <a:avLst>
              <a:gd name="adj" fmla="val 15789"/>
            </a:avLst>
          </a:prstGeom>
          <a:solidFill>
            <a:srgbClr val="D4EDDA"/>
          </a:solidFill>
          <a:ln/>
        </p:spPr>
      </p:sp>
      <p:sp>
        <p:nvSpPr>
          <p:cNvPr id="63" name="Text 61"/>
          <p:cNvSpPr/>
          <p:nvPr/>
        </p:nvSpPr>
        <p:spPr>
          <a:xfrm>
            <a:off x="6263640" y="5861304"/>
            <a:ext cx="553212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Full lineage, every assumption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137160" y="6350508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when you find an error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2148840" y="6368796"/>
            <a:ext cx="3566160" cy="347472"/>
          </a:xfrm>
          <a:prstGeom prst="roundRect">
            <a:avLst>
              <a:gd name="adj" fmla="val 15789"/>
            </a:avLst>
          </a:prstGeom>
          <a:solidFill>
            <a:srgbClr val="FFE8E8"/>
          </a:solidFill>
          <a:ln/>
        </p:spPr>
      </p:sp>
      <p:sp>
        <p:nvSpPr>
          <p:cNvPr id="66" name="Text 64"/>
          <p:cNvSpPr/>
          <p:nvPr/>
        </p:nvSpPr>
        <p:spPr>
          <a:xfrm>
            <a:off x="2194560" y="6368796"/>
            <a:ext cx="347472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Rebuild from scratch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6217920" y="6368796"/>
            <a:ext cx="5623560" cy="347472"/>
          </a:xfrm>
          <a:prstGeom prst="roundRect">
            <a:avLst>
              <a:gd name="adj" fmla="val 15789"/>
            </a:avLst>
          </a:prstGeom>
          <a:solidFill>
            <a:srgbClr val="D4EDDA"/>
          </a:solidFill>
          <a:ln/>
        </p:spPr>
      </p:sp>
      <p:sp>
        <p:nvSpPr>
          <p:cNvPr id="68" name="Text 66"/>
          <p:cNvSpPr/>
          <p:nvPr/>
        </p:nvSpPr>
        <p:spPr>
          <a:xfrm>
            <a:off x="6263640" y="6368796"/>
            <a:ext cx="553212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Flag &amp; fix. Model continues.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94360"/>
          </a:xfrm>
          <a:prstGeom prst="rect">
            <a:avLst/>
          </a:prstGeom>
          <a:solidFill>
            <a:srgbClr val="0D2D5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46520"/>
            <a:ext cx="12161520" cy="411480"/>
          </a:xfrm>
          <a:prstGeom prst="rect">
            <a:avLst/>
          </a:prstGeom>
          <a:solidFill>
            <a:srgbClr val="C090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pricing. Profound ROI.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896112"/>
            <a:ext cx="3566160" cy="5212080"/>
          </a:xfrm>
          <a:prstGeom prst="roundRect">
            <a:avLst>
              <a:gd name="adj" fmla="val 3846"/>
            </a:avLst>
          </a:prstGeom>
          <a:solidFill>
            <a:srgbClr val="0A1929"/>
          </a:solidFill>
          <a:ln/>
          <a:effectLst>
            <a:outerShdw sx="100000" sy="100000" kx="0" ky="0" algn="bl" rotWithShape="0" blurRad="2.326215729860157e+177" dist="8.723308986975589e+176" dir="3.897961407526833e+207">
              <a:srgbClr val="000000">
                <a:alpha val="1.1999999999999993e+214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896112"/>
            <a:ext cx="356616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100584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12648" y="1389888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$199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612648" y="1993392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/seat/month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12648" y="2267712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 Brokers &amp; solo investors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596896"/>
            <a:ext cx="3291840" cy="3657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72491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CC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Single-asset DCF modeling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" y="322783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CC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AI rent roll extraction (20 docs/mo)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373075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CC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Live market comp sourcing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" y="423367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CC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Basic IC memo generation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" y="473659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CC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Standard support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" y="5605272"/>
            <a:ext cx="3337560" cy="347472"/>
          </a:xfrm>
          <a:prstGeom prst="roundRect">
            <a:avLst>
              <a:gd name="adj" fmla="val 21053"/>
            </a:avLst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" y="560527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vs. $5,000/yr Argus basic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389120" y="713232"/>
            <a:ext cx="3566160" cy="5577840"/>
          </a:xfrm>
          <a:prstGeom prst="roundRect">
            <a:avLst>
              <a:gd name="adj" fmla="val 3846"/>
            </a:avLst>
          </a:prstGeom>
          <a:solidFill>
            <a:srgbClr val="0A2A50"/>
          </a:solidFill>
          <a:ln/>
          <a:effectLst>
            <a:outerShdw sx="100000" sy="100000" kx="0" ky="0" algn="bl" rotWithShape="0" blurRad="4.32749983897018e+62" dist="1.4424999463233936e+62" dir="6.347497291776e+73">
              <a:srgbClr val="000000">
                <a:alpha val="1.4e+74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352544" y="676656"/>
            <a:ext cx="3639312" cy="5614416"/>
          </a:xfrm>
          <a:prstGeom prst="roundRect">
            <a:avLst>
              <a:gd name="adj" fmla="val 3769"/>
            </a:avLst>
          </a:prstGeom>
          <a:solidFill>
            <a:srgbClr val="FFFFFF"/>
          </a:solidFill>
          <a:ln w="31750">
            <a:solidFill>
              <a:srgbClr val="C09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49240" y="512064"/>
            <a:ext cx="1481328" cy="292608"/>
          </a:xfrm>
          <a:prstGeom prst="roundRect">
            <a:avLst>
              <a:gd name="adj" fmla="val 15625"/>
            </a:avLst>
          </a:prstGeom>
          <a:solidFill>
            <a:srgbClr val="C09000"/>
          </a:solidFill>
          <a:ln/>
        </p:spPr>
      </p:sp>
      <p:sp>
        <p:nvSpPr>
          <p:cNvPr id="22" name="Text 20"/>
          <p:cNvSpPr/>
          <p:nvPr/>
        </p:nvSpPr>
        <p:spPr>
          <a:xfrm>
            <a:off x="5349240" y="521208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7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POPULAR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389120" y="713232"/>
            <a:ext cx="3566160" cy="54864"/>
          </a:xfrm>
          <a:prstGeom prst="rect">
            <a:avLst/>
          </a:prstGeom>
          <a:solidFill>
            <a:srgbClr val="C09000"/>
          </a:solidFill>
          <a:ln/>
        </p:spPr>
      </p:sp>
      <p:sp>
        <p:nvSpPr>
          <p:cNvPr id="24" name="Text 22"/>
          <p:cNvSpPr/>
          <p:nvPr/>
        </p:nvSpPr>
        <p:spPr>
          <a:xfrm>
            <a:off x="4498848" y="82296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09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 TEAM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498848" y="1207008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$499</a:t>
            </a:r>
            <a:endParaRPr lang="en-US" sz="3800" dirty="0"/>
          </a:p>
        </p:txBody>
      </p:sp>
      <p:sp>
        <p:nvSpPr>
          <p:cNvPr id="26" name="Text 24"/>
          <p:cNvSpPr/>
          <p:nvPr/>
        </p:nvSpPr>
        <p:spPr>
          <a:xfrm>
            <a:off x="4498848" y="1810512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/seat/month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498848" y="2084832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 Boutique equity &amp; debt shops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26280" y="2414016"/>
            <a:ext cx="3291840" cy="36576"/>
          </a:xfrm>
          <a:prstGeom prst="rect">
            <a:avLst/>
          </a:prstGeom>
          <a:solidFill>
            <a:srgbClr val="C09000"/>
          </a:solidFill>
          <a:ln w="12700">
            <a:solidFill>
              <a:srgbClr val="C09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0" y="254203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CC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Everything in Analyst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0" y="304495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CC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Full waterfall + debt modeling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0" y="354787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CC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5 debt structure scenarios parallel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0" y="405079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CC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BFT verified outputs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0" y="455371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CC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Unlimited AI doc extraction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0" y="505663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CC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Live market data feeds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498848" y="5788152"/>
            <a:ext cx="3337560" cy="347472"/>
          </a:xfrm>
          <a:prstGeom prst="roundRect">
            <a:avLst>
              <a:gd name="adj" fmla="val 21053"/>
            </a:avLst>
          </a:prstGeom>
          <a:solidFill>
            <a:srgbClr val="C09000"/>
          </a:solidFill>
          <a:ln/>
        </p:spPr>
      </p:sp>
      <p:sp>
        <p:nvSpPr>
          <p:cNvPr id="36" name="Text 34"/>
          <p:cNvSpPr/>
          <p:nvPr/>
        </p:nvSpPr>
        <p:spPr>
          <a:xfrm>
            <a:off x="4498848" y="578815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vs. $15,000/yr Argus Enterprise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275320" y="896112"/>
            <a:ext cx="3566160" cy="5212080"/>
          </a:xfrm>
          <a:prstGeom prst="roundRect">
            <a:avLst>
              <a:gd name="adj" fmla="val 3846"/>
            </a:avLst>
          </a:prstGeom>
          <a:solidFill>
            <a:srgbClr val="0A1929"/>
          </a:solidFill>
          <a:ln/>
          <a:effectLst>
            <a:outerShdw sx="100000" sy="100000" kx="0" ky="0" algn="bl" rotWithShape="0" blurRad="2.9542939769223992e+181" dist="1.1078602413458997e+181" dir="2.3387768445161e+212">
              <a:srgbClr val="000000">
                <a:alpha val="1.1999999999999994e+219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275320" y="896112"/>
            <a:ext cx="3566160" cy="54864"/>
          </a:xfrm>
          <a:prstGeom prst="rect">
            <a:avLst/>
          </a:prstGeom>
          <a:solidFill>
            <a:srgbClr val="006064"/>
          </a:solidFill>
          <a:ln/>
        </p:spPr>
      </p:sp>
      <p:sp>
        <p:nvSpPr>
          <p:cNvPr id="39" name="Text 37"/>
          <p:cNvSpPr/>
          <p:nvPr/>
        </p:nvSpPr>
        <p:spPr>
          <a:xfrm>
            <a:off x="8385048" y="100584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60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385048" y="1389888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$999</a:t>
            </a:r>
            <a:endParaRPr lang="en-US" sz="3800" dirty="0"/>
          </a:p>
        </p:txBody>
      </p:sp>
      <p:sp>
        <p:nvSpPr>
          <p:cNvPr id="41" name="Text 39"/>
          <p:cNvSpPr/>
          <p:nvPr/>
        </p:nvSpPr>
        <p:spPr>
          <a:xfrm>
            <a:off x="8385048" y="1993392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/seat/month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385048" y="2267712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 Institutional REPE &amp; lenders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412480" y="2596896"/>
            <a:ext cx="3291840" cy="36576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458200" y="272491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CC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Everything in Deal Team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458200" y="322783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CC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Full portfolio aggregation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458200" y="373075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CC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Fund-level reporting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458200" y="423367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CC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LP portal access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458200" y="473659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CC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API + Yardi/MRI integration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458200" y="523951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CC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Marketplace full access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385048" y="5605272"/>
            <a:ext cx="3337560" cy="347472"/>
          </a:xfrm>
          <a:prstGeom prst="roundRect">
            <a:avLst>
              <a:gd name="adj" fmla="val 21053"/>
            </a:avLst>
          </a:prstGeom>
          <a:solidFill>
            <a:srgbClr val="006064"/>
          </a:solidFill>
          <a:ln/>
        </p:spPr>
      </p:sp>
      <p:sp>
        <p:nvSpPr>
          <p:cNvPr id="51" name="Text 49"/>
          <p:cNvSpPr/>
          <p:nvPr/>
        </p:nvSpPr>
        <p:spPr>
          <a:xfrm>
            <a:off x="8385048" y="560527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vs. $50,000+/yr Argus Taliance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94360"/>
          </a:xfrm>
          <a:prstGeom prst="rect">
            <a:avLst/>
          </a:prstGeom>
          <a:solidFill>
            <a:srgbClr val="0D2D5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solidFill>
            <a:srgbClr val="C090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window doesn't stay open.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31520"/>
            <a:ext cx="11338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5A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 of CRE investors started an AI program in 2025. Only 5% achieved their goals. The other 83% cobbled together ChatGPT prompts, single-use tools, and spreadsheet macros that don't talk to each other.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5A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 is the first platform that connects every step — from document in to IC memo out — with a verified, fact-checked, audit-ready answer. Not one AI tool. A coordinated team.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2468880"/>
            <a:ext cx="11247120" cy="36576"/>
          </a:xfrm>
          <a:prstGeom prst="rect">
            <a:avLst/>
          </a:prstGeom>
          <a:solidFill>
            <a:srgbClr val="0D2D52"/>
          </a:solidFill>
          <a:ln w="12700">
            <a:solidFill>
              <a:srgbClr val="0D2D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606040"/>
            <a:ext cx="2743200" cy="3383280"/>
          </a:xfrm>
          <a:prstGeom prst="roundRect">
            <a:avLst>
              <a:gd name="adj" fmla="val 4000"/>
            </a:avLst>
          </a:prstGeom>
          <a:solidFill>
            <a:srgbClr val="DCEEFB"/>
          </a:solidFill>
          <a:ln/>
          <a:effectLst>
            <a:outerShdw sx="100000" sy="100000" kx="0" ky="0" algn="bl" rotWithShape="0" blurRad="3.751953350691447e+185" dist="1.4069825065092926e+185" dir="1.40326610670966e+217">
              <a:srgbClr val="000000">
                <a:alpha val="1.1999999999999994e+224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606040"/>
            <a:ext cx="2743200" cy="502920"/>
          </a:xfrm>
          <a:prstGeom prst="rect">
            <a:avLst/>
          </a:prstGeom>
          <a:solidFill>
            <a:srgbClr val="0D2D52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2624328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5488" y="32004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wins deals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" y="3675888"/>
            <a:ext cx="2523744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A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 3-lender, 3-buyer race, the first clean analysis wins. NEXUS makes you first. Every time.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91840" y="2606040"/>
            <a:ext cx="2743200" cy="3383280"/>
          </a:xfrm>
          <a:prstGeom prst="roundRect">
            <a:avLst>
              <a:gd name="adj" fmla="val 4000"/>
            </a:avLst>
          </a:prstGeom>
          <a:solidFill>
            <a:srgbClr val="DCEEFB"/>
          </a:solidFill>
          <a:ln/>
          <a:effectLst>
            <a:outerShdw sx="100000" sy="100000" kx="0" ky="0" algn="bl" rotWithShape="0" blurRad="4.764980755378138e+189" dist="1.7868677832668018e+189" dir="8.41959664025796e+221">
              <a:srgbClr val="000000">
                <a:alpha val="1.1999999999999994e+229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2606040"/>
            <a:ext cx="2743200" cy="502920"/>
          </a:xfrm>
          <a:prstGeom prst="rect">
            <a:avLst/>
          </a:prstGeom>
          <a:solidFill>
            <a:srgbClr val="0D2D52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0" y="2624328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401568" y="32004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wins trust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01568" y="3675888"/>
            <a:ext cx="2523744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A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number is fact-checked by 5 agents. Every comp is cited. Every assumption is traceable. LPs and lenders notice.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17920" y="2606040"/>
            <a:ext cx="2743200" cy="3383280"/>
          </a:xfrm>
          <a:prstGeom prst="roundRect">
            <a:avLst>
              <a:gd name="adj" fmla="val 4000"/>
            </a:avLst>
          </a:prstGeom>
          <a:solidFill>
            <a:srgbClr val="DCEEFB"/>
          </a:solidFill>
          <a:ln/>
          <a:effectLst>
            <a:outerShdw sx="100000" sy="100000" kx="0" ky="0" algn="bl" rotWithShape="0" blurRad="6.051525559330235e+193" dist="2.2693220847488382e+193" dir="5.051757984154776e+226">
              <a:srgbClr val="000000">
                <a:alpha val="1.1999999999999994e+234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2606040"/>
            <a:ext cx="2743200" cy="502920"/>
          </a:xfrm>
          <a:prstGeom prst="rect">
            <a:avLst/>
          </a:prstGeom>
          <a:solidFill>
            <a:srgbClr val="0D2D52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2624328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327648" y="32004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Economics are obvious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27648" y="3675888"/>
            <a:ext cx="2523744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A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analyst. One deal. 5 days. With NEXUS: one team, unlimited deals, 27 minutes. The ROI is immediate.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144000" y="2606040"/>
            <a:ext cx="2743200" cy="3383280"/>
          </a:xfrm>
          <a:prstGeom prst="roundRect">
            <a:avLst>
              <a:gd name="adj" fmla="val 4000"/>
            </a:avLst>
          </a:prstGeom>
          <a:solidFill>
            <a:srgbClr val="DCEEFB"/>
          </a:solidFill>
          <a:ln/>
          <a:effectLst>
            <a:outerShdw sx="100000" sy="100000" kx="0" ky="0" algn="bl" rotWithShape="0" blurRad="7.685437460349399e+197" dist="2.8820390476310245e+197" dir="3.0310547904928656e+231">
              <a:srgbClr val="000000">
                <a:alpha val="1.1999999999999992e+239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144000" y="2606040"/>
            <a:ext cx="2743200" cy="502920"/>
          </a:xfrm>
          <a:prstGeom prst="rect">
            <a:avLst/>
          </a:prstGeom>
          <a:solidFill>
            <a:srgbClr val="0D2D52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0" y="2624328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253728" y="32004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market rewards early movers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253728" y="3675888"/>
            <a:ext cx="2523744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A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$16.7B went into AI PropTech in 2025. The firms adopting now will have data advantages compounding for years.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65760" y="6327648"/>
            <a:ext cx="11338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your free 30-day trial at  nexuscre.ai  or contact us for a live deal demo.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NEXUS CRE Intelligence — Pro Edition</dc:title>
  <dc:subject>PptxGenJS Presentation</dc:subject>
  <dc:creator>HyperDAG Protocol / AI Trinity Symphony</dc:creator>
  <cp:lastModifiedBy>HyperDAG Protocol / AI Trinity Symphony</cp:lastModifiedBy>
  <cp:revision>1</cp:revision>
  <dcterms:created xsi:type="dcterms:W3CDTF">2026-03-09T00:40:51Z</dcterms:created>
  <dcterms:modified xsi:type="dcterms:W3CDTF">2026-03-09T00:40:51Z</dcterms:modified>
</cp:coreProperties>
</file>