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3152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Airbnb</a:t>
            </a:r>
            <a:endParaRPr lang="en-US" sz="8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CRE Data.</a:t>
            </a:r>
            <a:endParaRPr lang="en-US" sz="8200" dirty="0"/>
          </a:p>
        </p:txBody>
      </p:sp>
      <p:sp>
        <p:nvSpPr>
          <p:cNvPr id="4" name="Shape 2"/>
          <p:cNvSpPr/>
          <p:nvPr/>
        </p:nvSpPr>
        <p:spPr>
          <a:xfrm>
            <a:off x="822960" y="4709160"/>
            <a:ext cx="8229600" cy="457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892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2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underwriting. Verified answers.</a:t>
            </a:r>
            <a:endParaRPr lang="en-US" sz="2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2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marketplace that pays the people who know things.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418320" y="1828800"/>
            <a:ext cx="2377440" cy="3200400"/>
          </a:xfrm>
          <a:prstGeom prst="roundRect">
            <a:avLst>
              <a:gd name="adj" fmla="val 6923"/>
            </a:avLst>
          </a:prstGeom>
          <a:solidFill>
            <a:srgbClr val="0D2D52"/>
          </a:solidFill>
          <a:ln/>
          <a:effectLst>
            <a:outerShdw sx="100000" sy="100000" kx="0" ky="0" algn="bl" rotWithShape="0" blurRad="177800" dist="635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418320" y="1828800"/>
            <a:ext cx="237744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0" y="20116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C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72hrs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418320" y="290779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underwrite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deal today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0" y="3657600"/>
            <a:ext cx="2011680" cy="36576"/>
          </a:xfrm>
          <a:prstGeom prst="rect">
            <a:avLst/>
          </a:prstGeom>
          <a:solidFill>
            <a:srgbClr val="334466"/>
          </a:solidFill>
          <a:ln/>
        </p:spPr>
      </p:sp>
      <p:sp>
        <p:nvSpPr>
          <p:cNvPr id="11" name="Text 9"/>
          <p:cNvSpPr/>
          <p:nvPr/>
        </p:nvSpPr>
        <p:spPr>
          <a:xfrm>
            <a:off x="9418320" y="37947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27min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9418320" y="46817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NEXUS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CRE INTELLIGENCE  ·  nexuscre.ai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2004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749808"/>
            <a:ext cx="10789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400" b="1" dirty="0">
                <a:solidFill>
                  <a:srgbClr val="05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deals close</a:t>
            </a:r>
            <a:endParaRPr lang="en-US" sz="6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400" b="1" dirty="0">
                <a:solidFill>
                  <a:srgbClr val="05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you're ready.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804672" y="3072384"/>
            <a:ext cx="1078992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33649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25880" y="334670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days to underwrite one deal — manually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38221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deals close in 48 hours. You're still building the model.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4480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25880" y="446227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$50K/yr for data you already have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4937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 and property managers hold the best intelligence. CoStar gets paid. They don't.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672" y="559612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25880" y="55778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typo in the rent roll corrupts the whole model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605332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verification. No audit trail. Wrong answer. Lost trust.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2004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749808"/>
            <a:ext cx="10789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a file.</a:t>
            </a:r>
            <a:endParaRPr lang="en-US" sz="6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a verified answer.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804672" y="3154680"/>
            <a:ext cx="10789920" cy="457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5120640"/>
            <a:ext cx="9875520" cy="54864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3401568"/>
            <a:ext cx="1920240" cy="2011680"/>
          </a:xfrm>
          <a:prstGeom prst="roundRect">
            <a:avLst>
              <a:gd name="adj" fmla="val 6667"/>
            </a:avLst>
          </a:prstGeom>
          <a:solidFill>
            <a:srgbClr val="0D2D52"/>
          </a:solidFill>
          <a:ln/>
          <a:effectLst>
            <a:outerShdw sx="100000" sy="100000" kx="0" ky="0" algn="bl" rotWithShape="0" blurRad="2258060000" dist="806450000" dir="486000000000">
              <a:srgbClr val="000000">
                <a:alpha val="22000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3401568"/>
            <a:ext cx="192024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49300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" y="4206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234440" y="4956048"/>
            <a:ext cx="1097280" cy="411480"/>
          </a:xfrm>
          <a:prstGeom prst="ellipse">
            <a:avLst/>
          </a:prstGeom>
          <a:solidFill>
            <a:srgbClr val="1A3A60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49560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06624" y="4114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4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072384" y="3401568"/>
            <a:ext cx="1920240" cy="2011680"/>
          </a:xfrm>
          <a:prstGeom prst="roundRect">
            <a:avLst>
              <a:gd name="adj" fmla="val 6667"/>
            </a:avLst>
          </a:prstGeom>
          <a:solidFill>
            <a:srgbClr val="0D2D52"/>
          </a:solidFill>
          <a:ln/>
          <a:effectLst>
            <a:outerShdw sx="100000" sy="100000" kx="0" ky="0" algn="bl" rotWithShape="0" blurRad="28677362000000" dist="10241915000000" dir="29160000000000000">
              <a:srgbClr val="000000">
                <a:alpha val="2200000000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72384" y="3401568"/>
            <a:ext cx="192024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6" name="Text 14"/>
          <p:cNvSpPr/>
          <p:nvPr/>
        </p:nvSpPr>
        <p:spPr>
          <a:xfrm>
            <a:off x="3072384" y="349300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072384" y="4206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483864" y="4956048"/>
            <a:ext cx="1097280" cy="411480"/>
          </a:xfrm>
          <a:prstGeom prst="ellipse">
            <a:avLst/>
          </a:prstGeom>
          <a:solidFill>
            <a:srgbClr val="1A3A60"/>
          </a:solidFill>
          <a:ln/>
        </p:spPr>
      </p:sp>
      <p:sp>
        <p:nvSpPr>
          <p:cNvPr id="19" name="Text 17"/>
          <p:cNvSpPr/>
          <p:nvPr/>
        </p:nvSpPr>
        <p:spPr>
          <a:xfrm>
            <a:off x="3483864" y="49560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56048" y="4114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4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5321808" y="3401568"/>
            <a:ext cx="1920240" cy="2011680"/>
          </a:xfrm>
          <a:prstGeom prst="roundRect">
            <a:avLst>
              <a:gd name="adj" fmla="val 6667"/>
            </a:avLst>
          </a:prstGeom>
          <a:solidFill>
            <a:srgbClr val="0D2D52"/>
          </a:solidFill>
          <a:ln/>
          <a:effectLst>
            <a:outerShdw sx="100000" sy="100000" kx="0" ky="0" algn="bl" rotWithShape="0" blurRad="364202497400000000" dist="130072320500000000" dir="1.7496e+21">
              <a:srgbClr val="000000">
                <a:alpha val="2200000000000000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21808" y="3401568"/>
            <a:ext cx="192024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3" name="Text 21"/>
          <p:cNvSpPr/>
          <p:nvPr/>
        </p:nvSpPr>
        <p:spPr>
          <a:xfrm>
            <a:off x="5321808" y="349300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321808" y="4206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733288" y="4956048"/>
            <a:ext cx="1097280" cy="411480"/>
          </a:xfrm>
          <a:prstGeom prst="ellipse">
            <a:avLst/>
          </a:prstGeom>
          <a:solidFill>
            <a:srgbClr val="1A3A60"/>
          </a:solidFill>
          <a:ln/>
        </p:spPr>
      </p:sp>
      <p:sp>
        <p:nvSpPr>
          <p:cNvPr id="26" name="Text 24"/>
          <p:cNvSpPr/>
          <p:nvPr/>
        </p:nvSpPr>
        <p:spPr>
          <a:xfrm>
            <a:off x="5733288" y="49560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05472" y="4114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4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7571232" y="3401568"/>
            <a:ext cx="1920240" cy="2011680"/>
          </a:xfrm>
          <a:prstGeom prst="roundRect">
            <a:avLst>
              <a:gd name="adj" fmla="val 6667"/>
            </a:avLst>
          </a:prstGeom>
          <a:solidFill>
            <a:srgbClr val="0D2D52"/>
          </a:solidFill>
          <a:ln/>
          <a:effectLst>
            <a:outerShdw sx="100000" sy="100000" kx="0" ky="0" algn="bl" rotWithShape="0" blurRad="4.62537171698e+21" dist="1.65191847035e+21" dir="1.04976e+26">
              <a:srgbClr val="000000">
                <a:alpha val="2.2e+24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71232" y="3401568"/>
            <a:ext cx="192024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0" name="Text 28"/>
          <p:cNvSpPr/>
          <p:nvPr/>
        </p:nvSpPr>
        <p:spPr>
          <a:xfrm>
            <a:off x="7571232" y="349300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571232" y="4206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982712" y="4956048"/>
            <a:ext cx="1097280" cy="411480"/>
          </a:xfrm>
          <a:prstGeom prst="ellipse">
            <a:avLst/>
          </a:prstGeom>
          <a:solidFill>
            <a:srgbClr val="1A3A60"/>
          </a:solidFill>
          <a:ln/>
        </p:spPr>
      </p:sp>
      <p:sp>
        <p:nvSpPr>
          <p:cNvPr id="33" name="Text 31"/>
          <p:cNvSpPr/>
          <p:nvPr/>
        </p:nvSpPr>
        <p:spPr>
          <a:xfrm>
            <a:off x="7982712" y="49560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454896" y="4114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4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 dirty="0"/>
          </a:p>
        </p:txBody>
      </p:sp>
      <p:sp>
        <p:nvSpPr>
          <p:cNvPr id="35" name="Shape 33"/>
          <p:cNvSpPr/>
          <p:nvPr/>
        </p:nvSpPr>
        <p:spPr>
          <a:xfrm>
            <a:off x="9820656" y="3401568"/>
            <a:ext cx="1920240" cy="2011680"/>
          </a:xfrm>
          <a:prstGeom prst="roundRect">
            <a:avLst>
              <a:gd name="adj" fmla="val 6667"/>
            </a:avLst>
          </a:prstGeom>
          <a:solidFill>
            <a:srgbClr val="0D2D52"/>
          </a:solidFill>
          <a:ln/>
          <a:effectLst>
            <a:outerShdw sx="100000" sy="100000" kx="0" ky="0" algn="bl" rotWithShape="0" blurRad="5.8742220805646e+25" dist="2.0979364573445003e+25" dir="6.29856e+30">
              <a:srgbClr val="000000">
                <a:alpha val="2.2e+29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820656" y="3401568"/>
            <a:ext cx="192024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7" name="Text 35"/>
          <p:cNvSpPr/>
          <p:nvPr/>
        </p:nvSpPr>
        <p:spPr>
          <a:xfrm>
            <a:off x="9820656" y="349300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9820656" y="4206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10232136" y="4956048"/>
            <a:ext cx="1097280" cy="4114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0" name="Text 38"/>
          <p:cNvSpPr/>
          <p:nvPr/>
        </p:nvSpPr>
        <p:spPr>
          <a:xfrm>
            <a:off x="10232136" y="49560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min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04672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AI agents. Each expert in one discipline. All checking each other's work.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804672" y="6163056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platform where a wrong number cannot leave without being caught.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2004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MARKET OPPORTUNITY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749808"/>
            <a:ext cx="10789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400" b="1" dirty="0">
                <a:solidFill>
                  <a:srgbClr val="05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markets.</a:t>
            </a:r>
            <a:endParaRPr lang="en-US" sz="6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400" b="1" dirty="0">
                <a:solidFill>
                  <a:srgbClr val="05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massive.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804672" y="3072384"/>
            <a:ext cx="10789920" cy="457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3337560"/>
            <a:ext cx="5166360" cy="3218688"/>
          </a:xfrm>
          <a:prstGeom prst="roundRect">
            <a:avLst>
              <a:gd name="adj" fmla="val 5114"/>
            </a:avLst>
          </a:prstGeom>
          <a:solidFill>
            <a:srgbClr val="0D2D52"/>
          </a:solidFill>
          <a:ln/>
          <a:effectLst>
            <a:outerShdw sx="100000" sy="100000" kx="0" ky="0" algn="bl" rotWithShape="0" blurRad="7.460262042317042e+29" dist="2.6643793008275154e+29" dir="3.779136e+35">
              <a:srgbClr val="000000">
                <a:alpha val="2.2e+3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3337560"/>
            <a:ext cx="516636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456432"/>
            <a:ext cx="5166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Argus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3913632"/>
            <a:ext cx="5166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$567M</a:t>
            </a:r>
            <a:endParaRPr lang="en-US" sz="7600" dirty="0"/>
          </a:p>
        </p:txBody>
      </p:sp>
      <p:sp>
        <p:nvSpPr>
          <p:cNvPr id="10" name="Text 8"/>
          <p:cNvSpPr/>
          <p:nvPr/>
        </p:nvSpPr>
        <p:spPr>
          <a:xfrm>
            <a:off x="804672" y="5120640"/>
            <a:ext cx="51663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 Software TAM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$5K–$15K/seat  ·  30,000+ firms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72200" y="420624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7104888" y="3337560"/>
            <a:ext cx="4754880" cy="3218688"/>
          </a:xfrm>
          <a:prstGeom prst="roundRect">
            <a:avLst>
              <a:gd name="adj" fmla="val 5114"/>
            </a:avLst>
          </a:prstGeom>
          <a:solidFill>
            <a:srgbClr val="050E1A"/>
          </a:solidFill>
          <a:ln/>
          <a:effectLst>
            <a:outerShdw sx="100000" sy="100000" kx="0" ky="0" algn="bl" rotWithShape="0" blurRad="9.474532793742643e+33" dist="3.3837617120509443e+33" dir="2.2674816e+40">
              <a:srgbClr val="000000">
                <a:alpha val="2.2e+3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04888" y="3337560"/>
            <a:ext cx="475488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/>
          <p:nvPr/>
        </p:nvSpPr>
        <p:spPr>
          <a:xfrm>
            <a:off x="7104888" y="3456432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Data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104888" y="3913632"/>
            <a:ext cx="4754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$5B+</a:t>
            </a:r>
            <a:endParaRPr lang="en-US" sz="7600" dirty="0"/>
          </a:p>
        </p:txBody>
      </p:sp>
      <p:sp>
        <p:nvSpPr>
          <p:cNvPr id="16" name="Text 14"/>
          <p:cNvSpPr/>
          <p:nvPr/>
        </p:nvSpPr>
        <p:spPr>
          <a:xfrm>
            <a:off x="7104888" y="5120640"/>
            <a:ext cx="47548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 Data Market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CoStar territory  ·  Network effects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2004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BUSINESS MODEL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749808"/>
            <a:ext cx="10789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simple</a:t>
            </a:r>
            <a:endParaRPr lang="en-US" sz="6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engines.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804672" y="3072384"/>
            <a:ext cx="1078992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3310128"/>
            <a:ext cx="3474720" cy="3246120"/>
          </a:xfrm>
          <a:prstGeom prst="roundRect">
            <a:avLst>
              <a:gd name="adj" fmla="val 5070"/>
            </a:avLst>
          </a:prstGeom>
          <a:solidFill>
            <a:srgbClr val="0D2D52"/>
          </a:solidFill>
          <a:ln/>
          <a:effectLst>
            <a:outerShdw sx="100000" sy="100000" kx="0" ky="0" algn="bl" rotWithShape="0" blurRad="1.2032656648053156e+38" dist="4.297377374304699e+37" dir="1.36048896e+45">
              <a:srgbClr val="000000">
                <a:alpha val="2.2e+4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3310128"/>
            <a:ext cx="347472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438144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04672" y="416966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04672" y="47000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41832" y="507492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5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$199–$999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41832" y="57241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seat / month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41832" y="6035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tiers.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Deal Team · Platform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45152" y="3310128"/>
            <a:ext cx="3474720" cy="3246120"/>
          </a:xfrm>
          <a:prstGeom prst="roundRect">
            <a:avLst>
              <a:gd name="adj" fmla="val 5070"/>
            </a:avLst>
          </a:prstGeom>
          <a:solidFill>
            <a:srgbClr val="0D2D52"/>
          </a:solidFill>
          <a:ln/>
          <a:effectLst>
            <a:outerShdw sx="100000" sy="100000" kx="0" ky="0" algn="bl" rotWithShape="0" blurRad="1.528147394302751e+42" dist="5.457669265366968e+41" dir="8.16293376e+49">
              <a:srgbClr val="000000">
                <a:alpha val="2.2e+4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45152" y="3310128"/>
            <a:ext cx="347472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4645152" y="3438144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45152" y="416966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Usage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45152" y="47000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Metered Billing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82312" y="507492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Pay-per-call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782312" y="57241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$0.003 – $2.50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82312" y="6035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extraction,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memo billed.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85632" y="3310128"/>
            <a:ext cx="3474720" cy="3246120"/>
          </a:xfrm>
          <a:prstGeom prst="roundRect">
            <a:avLst>
              <a:gd name="adj" fmla="val 5070"/>
            </a:avLst>
          </a:prstGeom>
          <a:solidFill>
            <a:srgbClr val="0D2D52"/>
          </a:solidFill>
          <a:ln/>
          <a:effectLst>
            <a:outerShdw sx="100000" sy="100000" kx="0" ky="0" algn="bl" rotWithShape="0" blurRad="1.9407471907644937e+46" dist="6.93123996701605e+45" dir="4.897760256e+54">
              <a:srgbClr val="000000">
                <a:alpha val="2.2e+54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85632" y="3310128"/>
            <a:ext cx="3474720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8485632" y="3438144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8485632" y="416966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485632" y="47000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Transactions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22792" y="507492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5–15%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622792" y="57241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22792" y="6035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rolls, comps, leads.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get paid. Buyers win.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D2D52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2004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D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COMPETITION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749808"/>
            <a:ext cx="10789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5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each do one thing.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04672" y="182880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 all of it.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804672" y="2926080"/>
            <a:ext cx="10789920" cy="45720"/>
          </a:xfrm>
          <a:prstGeom prst="rect">
            <a:avLst/>
          </a:prstGeom>
          <a:solidFill>
            <a:srgbClr val="0D2D52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3127248"/>
            <a:ext cx="523036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464748932270907e+50" dist="8.802674758110384e+49" dir="2.9386561536e+59">
              <a:srgbClr val="000000">
                <a:alpha val="2.2e+5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3127248"/>
            <a:ext cx="5230368" cy="6400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Text 7"/>
          <p:cNvSpPr/>
          <p:nvPr/>
        </p:nvSpPr>
        <p:spPr>
          <a:xfrm>
            <a:off x="969264" y="325526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 Enterprise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89120" y="3273552"/>
            <a:ext cx="1508760" cy="329184"/>
          </a:xfrm>
          <a:prstGeom prst="roundRect">
            <a:avLst>
              <a:gd name="adj" fmla="val 19444"/>
            </a:avLst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327355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9264" y="3785616"/>
            <a:ext cx="4901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model. $15K/seat. No AI. No collab. 1995 called.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36208" y="3127248"/>
            <a:ext cx="523036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1302311439840524e+54" dist="1.1179396942800187e+54" dir="1.76319369216e+64">
              <a:srgbClr val="000000">
                <a:alpha val="2.2e+64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36208" y="3127248"/>
            <a:ext cx="5230368" cy="6400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325526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CoStar / MSCI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820656" y="3273552"/>
            <a:ext cx="1508760" cy="329184"/>
          </a:xfrm>
          <a:prstGeom prst="roundRect">
            <a:avLst>
              <a:gd name="adj" fmla="val 19444"/>
            </a:avLst>
          </a:prstGeom>
          <a:solidFill>
            <a:srgbClr val="EE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9820656" y="327355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King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785616"/>
            <a:ext cx="4901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data. $50K/yr. Zero modeling. Charges you for intel you already have.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" y="5029200"/>
            <a:ext cx="523036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9753935528597466e+58" dist="1.419783411735624e+58" dir="1.057916215296e+69">
              <a:srgbClr val="000000">
                <a:alpha val="2.2e+6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5029200"/>
            <a:ext cx="5230368" cy="6400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1" name="Text 19"/>
          <p:cNvSpPr/>
          <p:nvPr/>
        </p:nvSpPr>
        <p:spPr>
          <a:xfrm>
            <a:off x="969264" y="515721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Cactus / New AI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389120" y="5175504"/>
            <a:ext cx="1508760" cy="329184"/>
          </a:xfrm>
          <a:prstGeom prst="roundRect">
            <a:avLst>
              <a:gd name="adj" fmla="val 19444"/>
            </a:avLst>
          </a:prstGeom>
          <a:solidFill>
            <a:srgbClr val="EEF2FF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0" y="517550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Entrant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9264" y="5687568"/>
            <a:ext cx="4901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extraction. No waterfall. No verification. No marketplace.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36208" y="5029200"/>
            <a:ext cx="523036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.048749812131878e+62" dist="1.8031249329042424e+62" dir="6.347497291776e+73">
              <a:srgbClr val="000000">
                <a:alpha val="2.2e+74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36208" y="5029200"/>
            <a:ext cx="5230368" cy="6400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515721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ChatGPT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820656" y="5175504"/>
            <a:ext cx="1508760" cy="329184"/>
          </a:xfrm>
          <a:prstGeom prst="roundRect">
            <a:avLst>
              <a:gd name="adj" fmla="val 19444"/>
            </a:avLst>
          </a:prstGeom>
          <a:solidFill>
            <a:srgbClr val="EEF2FF"/>
          </a:solidFill>
          <a:ln/>
        </p:spPr>
      </p:sp>
      <p:sp>
        <p:nvSpPr>
          <p:cNvPr id="29" name="Text 27"/>
          <p:cNvSpPr/>
          <p:nvPr/>
        </p:nvSpPr>
        <p:spPr>
          <a:xfrm>
            <a:off x="9820656" y="517550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5687568"/>
            <a:ext cx="4901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Free. Familiar. Breaks constantly. Zero verification. Your liability.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40680" y="4041648"/>
            <a:ext cx="1298448" cy="1371600"/>
          </a:xfrm>
          <a:prstGeom prst="roundRect">
            <a:avLst>
              <a:gd name="adj" fmla="val 9859"/>
            </a:avLst>
          </a:prstGeom>
          <a:solidFill>
            <a:srgbClr val="0D2D52"/>
          </a:solidFill>
          <a:ln/>
          <a:effectLst>
            <a:outerShdw sx="100000" sy="100000" kx="0" ky="0" algn="bl" rotWithShape="0" blurRad="6.411912261407485e+66" dist="2.289968664788388e+66" dir="3.8084983750656e+78">
              <a:srgbClr val="000000">
                <a:alpha val="2.2000000000000002e+79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40680" y="4041648"/>
            <a:ext cx="1298448" cy="6400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3" name="Text 31"/>
          <p:cNvSpPr/>
          <p:nvPr/>
        </p:nvSpPr>
        <p:spPr>
          <a:xfrm>
            <a:off x="5440680" y="4133088"/>
            <a:ext cx="12984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NEXUS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all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it.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2004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TRACTION + WHY NOW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749808"/>
            <a:ext cx="10789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window</a:t>
            </a:r>
            <a:endParaRPr lang="en-US" sz="6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open now.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804672" y="3072384"/>
            <a:ext cx="10789920" cy="457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3337560"/>
            <a:ext cx="2834640" cy="3218688"/>
          </a:xfrm>
          <a:prstGeom prst="roundRect">
            <a:avLst>
              <a:gd name="adj" fmla="val 5161"/>
            </a:avLst>
          </a:prstGeom>
          <a:solidFill>
            <a:srgbClr val="0D2D52"/>
          </a:solidFill>
          <a:ln/>
          <a:effectLst>
            <a:outerShdw sx="100000" sy="100000" kx="0" ky="0" algn="bl" rotWithShape="0" blurRad="8.143128571987506e+70" dist="2.908260204281253e+70" dir="2.28509902503936e+83">
              <a:srgbClr val="000000">
                <a:alpha val="2.2000000000000003e+8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3337560"/>
            <a:ext cx="2834640" cy="640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502152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5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$16.7B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914400" y="4782312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AI PropTech in 2025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422392"/>
            <a:ext cx="26151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+68% year over year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3337560"/>
            <a:ext cx="2834640" cy="3218688"/>
          </a:xfrm>
          <a:prstGeom prst="roundRect">
            <a:avLst>
              <a:gd name="adj" fmla="val 5161"/>
            </a:avLst>
          </a:prstGeom>
          <a:solidFill>
            <a:srgbClr val="0D2D52"/>
          </a:solidFill>
          <a:ln/>
          <a:effectLst>
            <a:outerShdw sx="100000" sy="100000" kx="0" ky="0" algn="bl" rotWithShape="0" blurRad="1.0341773286424134e+75" dist="3.693490459437191e+74" dir="1.371059415023616e+88">
              <a:srgbClr val="000000">
                <a:alpha val="2.2000000000000003e+8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0" y="3337560"/>
            <a:ext cx="2834640" cy="6400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3502152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3950208" y="4782312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CRE firms started 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50208" y="5422392"/>
            <a:ext cx="26151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5% achieved their goals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76288" y="3337560"/>
            <a:ext cx="2834640" cy="3218688"/>
          </a:xfrm>
          <a:prstGeom prst="roundRect">
            <a:avLst>
              <a:gd name="adj" fmla="val 5161"/>
            </a:avLst>
          </a:prstGeom>
          <a:solidFill>
            <a:srgbClr val="0D2D52"/>
          </a:solidFill>
          <a:ln/>
          <a:effectLst>
            <a:outerShdw sx="100000" sy="100000" kx="0" ky="0" algn="bl" rotWithShape="0" blurRad="1.313405207375865e+79" dist="4.690732883485232e+78" dir="8.226356490141696e+92">
              <a:srgbClr val="000000">
                <a:alpha val="2.2e+94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76288" y="3337560"/>
            <a:ext cx="2834640" cy="64008"/>
          </a:xfrm>
          <a:prstGeom prst="rect">
            <a:avLst/>
          </a:prstGeom>
          <a:solidFill>
            <a:srgbClr val="CC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6876288" y="3502152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C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days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6986016" y="4782312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deal analysis today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86016" y="5422392"/>
            <a:ext cx="26151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minutes with NEXUS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01200" y="3337560"/>
            <a:ext cx="2834640" cy="3218688"/>
          </a:xfrm>
          <a:prstGeom prst="roundRect">
            <a:avLst>
              <a:gd name="adj" fmla="val 5161"/>
            </a:avLst>
          </a:prstGeom>
          <a:solidFill>
            <a:srgbClr val="0D2D52"/>
          </a:solidFill>
          <a:ln/>
          <a:effectLst>
            <a:outerShdw sx="100000" sy="100000" kx="0" ky="0" algn="bl" rotWithShape="0" blurRad="1.6680246133673485e+83" dist="5.957230762026245e+82" dir="4.9358138940850176e+97">
              <a:srgbClr val="000000">
                <a:alpha val="2.2000000000000003e+99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01200" y="3337560"/>
            <a:ext cx="2834640" cy="6400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0" y="3502152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$120B+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9710928" y="4782312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 transacted annually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710928" y="5422392"/>
            <a:ext cx="26151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deal needs this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4672" y="6492240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live.  4 patents filed.  12 agents operational.  Building now.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2004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THE TEAM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749808"/>
            <a:ext cx="10789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05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someone who</a:t>
            </a:r>
            <a:endParaRPr lang="en-US" sz="5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05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 this before AI existed.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804672" y="3154680"/>
            <a:ext cx="10789920" cy="457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3383280"/>
            <a:ext cx="5029200" cy="3182112"/>
          </a:xfrm>
          <a:prstGeom prst="roundRect">
            <a:avLst>
              <a:gd name="adj" fmla="val 5172"/>
            </a:avLst>
          </a:prstGeom>
          <a:solidFill>
            <a:srgbClr val="0D2D52"/>
          </a:solidFill>
          <a:ln/>
          <a:effectLst>
            <a:outerShdw sx="100000" sy="100000" kx="0" ky="0" algn="bl" rotWithShape="0" blurRad="2.1183912589765324e+87" dist="7.565683067773332e+86" dir="2.9614883364510103e+102">
              <a:srgbClr val="000000">
                <a:alpha val="2.2000000000000003e+10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3383280"/>
            <a:ext cx="50292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3547872"/>
            <a:ext cx="1417320" cy="141732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356616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651760" y="35204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Sean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51760" y="4114800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Architect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linkedin.com/in/privatemoney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60120" y="4956048"/>
            <a:ext cx="4754880" cy="457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5074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ANFIS + Neural Networks  ·  2010–2015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87552" y="54589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Blockchain + DAGs  ·  2016 – present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87552" y="584301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4 patents filed  ·  12 agents operational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87552" y="622706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30,000 LinkedIn network ready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80760" y="3383280"/>
            <a:ext cx="5303520" cy="318211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6903568989001962e+91" dist="9.608417496072131e+90" dir="1.7768930018706063e+107">
              <a:srgbClr val="000000">
                <a:alpha val="2.2000000000000003e+109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3383280"/>
            <a:ext cx="530352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3511296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Advantages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63640" y="4069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12280" y="4096512"/>
            <a:ext cx="4434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5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ANFIS routing math existed before LLMs — runs at 70% lower cost than competitors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467258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⛓️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12280" y="4700016"/>
            <a:ext cx="4434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5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workflow architecture already in production — NEXUS inherits it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63640" y="527608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12280" y="5303520"/>
            <a:ext cx="4434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5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triple overlap: deep CRE knowledge + AI/ML + Web3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587959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✝️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812280" y="5907024"/>
            <a:ext cx="4434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5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Mission-driven: 'helping people help people — the last, the lost, the least'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2004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08–09 · GO-TO-MARKET + FINANCIALS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749808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Land. Expand.</a:t>
            </a:r>
            <a:endParaRPr lang="en-US" sz="6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Dominate.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804672" y="3154680"/>
            <a:ext cx="10789920" cy="457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3364992"/>
            <a:ext cx="6583680" cy="1042416"/>
          </a:xfrm>
          <a:prstGeom prst="roundRect">
            <a:avLst>
              <a:gd name="adj" fmla="val 8772"/>
            </a:avLst>
          </a:prstGeom>
          <a:solidFill>
            <a:srgbClr val="0D2D52"/>
          </a:solidFill>
          <a:ln/>
          <a:effectLst>
            <a:outerShdw sx="100000" sy="100000" kx="0" ky="0" algn="bl" rotWithShape="0" blurRad="3.416753261603249e+95" dist="1.2202690220011606e+95" dir="1.0661358011223639e+112">
              <a:srgbClr val="000000">
                <a:alpha val="2.2000000000000003e+11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3364992"/>
            <a:ext cx="91440" cy="104241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969264" y="345643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09344" y="34564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9344" y="3803904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beta shops. Free. Build case studies.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30K LinkedIn network.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3621024"/>
            <a:ext cx="1600200" cy="512064"/>
          </a:xfrm>
          <a:prstGeom prst="roundRect">
            <a:avLst>
              <a:gd name="adj" fmla="val 16071"/>
            </a:avLst>
          </a:prstGeom>
          <a:solidFill>
            <a:srgbClr val="1A56DB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362102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$287K ARR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04672" y="4498848"/>
            <a:ext cx="6583680" cy="1042416"/>
          </a:xfrm>
          <a:prstGeom prst="roundRect">
            <a:avLst>
              <a:gd name="adj" fmla="val 8772"/>
            </a:avLst>
          </a:prstGeom>
          <a:solidFill>
            <a:srgbClr val="0D2D52"/>
          </a:solidFill>
          <a:ln/>
          <a:effectLst>
            <a:outerShdw sx="100000" sy="100000" kx="0" ky="0" algn="bl" rotWithShape="0" blurRad="4.3392766422361264e+99" dist="1.549741657941474e+99" dir="6.396814806734183e+116">
              <a:srgbClr val="000000">
                <a:alpha val="2.2000000000000005e+11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4498848"/>
            <a:ext cx="91440" cy="104241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5" name="Text 13"/>
          <p:cNvSpPr/>
          <p:nvPr/>
        </p:nvSpPr>
        <p:spPr>
          <a:xfrm>
            <a:off x="969264" y="459028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609344" y="45902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6–12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9344" y="4937760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expansion. Marketplace live.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first 500 bird dogs.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0" y="4754880"/>
            <a:ext cx="1600200" cy="512064"/>
          </a:xfrm>
          <a:prstGeom prst="roundRect">
            <a:avLst>
              <a:gd name="adj" fmla="val 16071"/>
            </a:avLst>
          </a:prstGeom>
          <a:solidFill>
            <a:srgbClr val="D4A017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475488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$1.9M ARR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04672" y="5632704"/>
            <a:ext cx="6583680" cy="1042416"/>
          </a:xfrm>
          <a:prstGeom prst="roundRect">
            <a:avLst>
              <a:gd name="adj" fmla="val 8772"/>
            </a:avLst>
          </a:prstGeom>
          <a:solidFill>
            <a:srgbClr val="0D2D52"/>
          </a:solidFill>
          <a:ln/>
          <a:effectLst>
            <a:outerShdw sx="100000" sy="100000" kx="0" ky="0" algn="bl" rotWithShape="0" blurRad="5.510881335639881e+103" dist="1.9681719055856718e+103" dir="3.83808888404051e+121">
              <a:srgbClr val="000000">
                <a:alpha val="2.2000000000000006e+12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5632704"/>
            <a:ext cx="91440" cy="104241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969264" y="572414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609344" y="572414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2+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09344" y="6071616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Institutional. Fund-level. API.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network effect compounds.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0" y="5888736"/>
            <a:ext cx="1600200" cy="512064"/>
          </a:xfrm>
          <a:prstGeom prst="roundRect">
            <a:avLst>
              <a:gd name="adj" fmla="val 16071"/>
            </a:avLst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0" y="588873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$30M ARR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680960" y="33649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Ramp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955280" y="6372001"/>
            <a:ext cx="1005840" cy="47087"/>
          </a:xfrm>
          <a:prstGeom prst="roundRect">
            <a:avLst>
              <a:gd name="adj" fmla="val 155355"/>
            </a:avLst>
          </a:prstGeom>
          <a:solidFill>
            <a:srgbClr val="1A56DB"/>
          </a:solidFill>
          <a:ln/>
          <a:effectLst>
            <a:outerShdw sx="100000" sy="100000" kx="0" ky="0" algn="bl" rotWithShape="0" blurRad="6.998819296262648e+107" dist="2.4995783200938032e+107" dir="2.302853330424306e+126">
              <a:srgbClr val="000000">
                <a:alpha val="2.2000000000000006e+129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90688" y="5960521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863840" y="64648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1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372600" y="5678082"/>
            <a:ext cx="1005840" cy="741006"/>
          </a:xfrm>
          <a:prstGeom prst="roundRect">
            <a:avLst>
              <a:gd name="adj" fmla="val 9872"/>
            </a:avLst>
          </a:prstGeom>
          <a:solidFill>
            <a:srgbClr val="D4A017"/>
          </a:solidFill>
          <a:ln/>
          <a:effectLst>
            <a:outerShdw sx="100000" sy="100000" kx="0" ky="0" algn="bl" rotWithShape="0" blurRad="8.888500506253563e+111" dist="3.17446446651913e+111" dir="1.3817119982545836e+131">
              <a:srgbClr val="000000">
                <a:alpha val="2.2000000000000004e+134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208008" y="5266602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281160" y="64648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2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0789920" y="3767328"/>
            <a:ext cx="1005840" cy="2651760"/>
          </a:xfrm>
          <a:prstGeom prst="roundRect">
            <a:avLst>
              <a:gd name="adj" fmla="val 7273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.1288395642942025e+116" dist="4.0315698724792955e+115" dir="8.290271989527502e+135">
              <a:srgbClr val="000000">
                <a:alpha val="2.2000000000000005e+139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625328" y="3355848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$107M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698480" y="64648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3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772400" y="6419088"/>
            <a:ext cx="4572000" cy="45720"/>
          </a:xfrm>
          <a:prstGeom prst="rect">
            <a:avLst/>
          </a:prstGeom>
          <a:solidFill>
            <a:srgbClr val="223355"/>
          </a:solidFill>
          <a:ln/>
        </p:spPr>
      </p:sp>
      <p:sp>
        <p:nvSpPr>
          <p:cNvPr id="38" name="Shape 36"/>
          <p:cNvSpPr/>
          <p:nvPr/>
        </p:nvSpPr>
        <p:spPr>
          <a:xfrm>
            <a:off x="804672" y="6492240"/>
            <a:ext cx="10561320" cy="274320"/>
          </a:xfrm>
          <a:prstGeom prst="roundRect">
            <a:avLst>
              <a:gd name="adj" fmla="val 26667"/>
            </a:avLst>
          </a:prstGeom>
          <a:solidFill>
            <a:srgbClr val="0D1F35"/>
          </a:solidFill>
          <a:ln/>
        </p:spPr>
      </p:sp>
      <p:sp>
        <p:nvSpPr>
          <p:cNvPr id="39" name="Text 37"/>
          <p:cNvSpPr/>
          <p:nvPr/>
        </p:nvSpPr>
        <p:spPr>
          <a:xfrm>
            <a:off x="804672" y="6519672"/>
            <a:ext cx="10561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a live deal demo?  ·  nexuscre.ai  ·  30-day free trial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CRE — Pitch Deck</dc:title>
  <dc:subject>PptxGenJS Presentation</dc:subject>
  <dc:creator>PptxGenJS</dc:creator>
  <cp:lastModifiedBy>PptxGenJS</cp:lastModifiedBy>
  <cp:revision>1</cp:revision>
  <dcterms:created xsi:type="dcterms:W3CDTF">2026-03-09T01:11:19Z</dcterms:created>
  <dcterms:modified xsi:type="dcterms:W3CDTF">2026-03-09T01:11:19Z</dcterms:modified>
</cp:coreProperties>
</file>